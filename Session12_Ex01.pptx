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3214ece59a4cb3" /><Relationship Type="http://schemas.openxmlformats.org/officeDocument/2006/relationships/extended-properties" Target="/docProps/app.xml" Id="R0ec22812efc14b97" /><Relationship Type="http://schemas.openxmlformats.org/officeDocument/2006/relationships/officeDocument" Target="/ppt/presentation.xml" Id="R0b60961b5b3b4492" /></Relationships>
</file>

<file path=ppt/presentation.xml><?xml version="1.0" encoding="utf-8"?>
<p:presentation xmlns:p="http://schemas.openxmlformats.org/presentationml/2006/main">
  <p:sldMasterIdLst>
    <p:sldMasterId xmlns:r="http://schemas.openxmlformats.org/officeDocument/2006/relationships" id="2147483648" r:id="Rf9a715584ad742f4"/>
  </p:sldMasterIdLst>
  <p:notesMasterIdLst>
    <p:notesMasterId xmlns:r="http://schemas.openxmlformats.org/officeDocument/2006/relationships" r:id="Rb2353bfd01814b72"/>
  </p:notesMasterIdLst>
  <p:sldIdLst>
    <p:sldId xmlns:r="http://schemas.openxmlformats.org/officeDocument/2006/relationships" id="256" r:id="R2f74c1905a264c12"/>
    <p:sldId xmlns:r="http://schemas.openxmlformats.org/officeDocument/2006/relationships" id="257" r:id="Rc283852b1b9d4582"/>
    <p:sldId xmlns:r="http://schemas.openxmlformats.org/officeDocument/2006/relationships" id="258" r:id="Rab6c9e0241634c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533ade67614373" /><Relationship Type="http://schemas.openxmlformats.org/officeDocument/2006/relationships/slideMaster" Target="/ppt/slideMasters/slideMaster1.xml" Id="Rf9a715584ad742f4" /><Relationship Type="http://schemas.openxmlformats.org/officeDocument/2006/relationships/notesMaster" Target="/ppt/notesMasters/notesMaster1.xml" Id="Rb2353bfd01814b72" /><Relationship Type="http://schemas.openxmlformats.org/officeDocument/2006/relationships/presProps" Target="/ppt/presProps.xml" Id="R2c111fe447884e02" /><Relationship Type="http://schemas.openxmlformats.org/officeDocument/2006/relationships/tableStyles" Target="/ppt/tableStyles.xml" Id="R42574a2f674540e1" /><Relationship Type="http://schemas.openxmlformats.org/officeDocument/2006/relationships/slide" Target="/ppt/slides/slide1.xml" Id="R2f74c1905a264c12" /><Relationship Type="http://schemas.openxmlformats.org/officeDocument/2006/relationships/slide" Target="/ppt/slides/slide2.xml" Id="Rc283852b1b9d4582" /><Relationship Type="http://schemas.openxmlformats.org/officeDocument/2006/relationships/slide" Target="/ppt/slides/slide3.xml" Id="Rab6c9e0241634c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476e0047874d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6fca625b134edb" /><Relationship Type="http://schemas.openxmlformats.org/officeDocument/2006/relationships/notesMaster" Target="/ppt/notesMasters/notesMaster1.xml" Id="R8519642414eb46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9ddb34caff4a0f" /><Relationship Type="http://schemas.openxmlformats.org/officeDocument/2006/relationships/notesMaster" Target="/ppt/notesMasters/notesMaster1.xml" Id="Rda1f8d63585742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2184a6579a4dc8" /><Relationship Type="http://schemas.openxmlformats.org/officeDocument/2006/relationships/notesMaster" Target="/ppt/notesMasters/notesMaster1.xml" Id="R682eb79616a34e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số liệu trích từ ảnh tham chiếu do người dùng cung cấp. Doanh thu tháng T01–T05: 7,28; 8,01; 9,36; 10,50; 12,45 tỷ VND. Mức tăng T05 so với T04 = (12,45 / 10,50) - 1 = 18,57%, làm tròn 18,6%.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cơ cấu chi phí trong ảnh tham chiếu do người dùng cung cấp. Tỷ trọng gồm phí đối tác ngân hàng 46%, vận hành 28%, marketing 16%, khác 10% (tổng 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các chỉ số tài chính và tỷ lệ thay đổi T05 so với T04 lấy từ ảnh tham chiếu do người dùng cung cấp. Biên lợi nhuận sau thuế tính bằng 2,89 / 12,45 = 23,2%. Không suy diễn nguyên nhân biến động từ bộ số liệu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5c98a0325d49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ec602e185f4a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a9192eaccb48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5b3fb40bb94f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76ecff3c1a4c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4406d259c94d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7BADD5-1AB7-43FD-986F-7D90F44233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FE873F-5DAB-4E45-8FB6-10CCF59DA5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522730-5B7C-47EB-81D2-32F6F7EB76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41C5B1-365B-43EA-A029-0439FA6531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242038-A075-46D2-94AD-8AC7E04ACE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3039C9-22B3-4A1F-92AD-069662D6DB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00C32D-AE47-4868-B6A2-A12CD33499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9C7DD6-9659-4D36-A92B-A531874C4C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0A968E-71D4-4E26-B097-72879D2032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698976-FECA-4985-9BF7-B0A354671C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b362b453154a74" /><Relationship Type="http://schemas.openxmlformats.org/officeDocument/2006/relationships/slideLayout" Target="/ppt/slideLayouts/slideLayout1.xml" Id="R5fd57b71024f4a40" /><Relationship Type="http://schemas.openxmlformats.org/officeDocument/2006/relationships/slideLayout" Target="/ppt/slideLayouts/slideLayout2.xml" Id="R4416aebf4a77443c" /><Relationship Type="http://schemas.openxmlformats.org/officeDocument/2006/relationships/slideLayout" Target="/ppt/slideLayouts/slideLayout3.xml" Id="Rbf1e635e3a2a43d5" /><Relationship Type="http://schemas.openxmlformats.org/officeDocument/2006/relationships/slideLayout" Target="/ppt/slideLayouts/slideLayout4.xml" Id="R413848fd6a94434d" /><Relationship Type="http://schemas.openxmlformats.org/officeDocument/2006/relationships/slideLayout" Target="/ppt/slideLayouts/slideLayout5.xml" Id="R8b753c1a3b2d4434" /><Relationship Type="http://schemas.openxmlformats.org/officeDocument/2006/relationships/slideLayout" Target="/ppt/slideLayouts/slideLayout6.xml" Id="Rd926493b2ec543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d57b71024f4a40"/>
    <p:sldLayoutId xmlns:r="http://schemas.openxmlformats.org/officeDocument/2006/relationships" id="2147483650" r:id="R4416aebf4a77443c"/>
    <p:sldLayoutId xmlns:r="http://schemas.openxmlformats.org/officeDocument/2006/relationships" id="2147483651" r:id="Rbf1e635e3a2a43d5"/>
    <p:sldLayoutId xmlns:r="http://schemas.openxmlformats.org/officeDocument/2006/relationships" id="2147483652" r:id="R413848fd6a94434d"/>
    <p:sldLayoutId xmlns:r="http://schemas.openxmlformats.org/officeDocument/2006/relationships" id="2147483653" r:id="R8b753c1a3b2d4434"/>
    <p:sldLayoutId xmlns:r="http://schemas.openxmlformats.org/officeDocument/2006/relationships" id="2147483654" r:id="Rd926493b2ec543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14dd1977544c37" /><Relationship Type="http://schemas.openxmlformats.org/officeDocument/2006/relationships/chart" Target="/ppt/slides/charts/chart1.xml" Id="R68badae56286401a" /><Relationship Type="http://schemas.openxmlformats.org/officeDocument/2006/relationships/notesSlide" Target="/ppt/notesSlides/notesSlide1.xml" Id="Ra829e468010c43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c01977b93c42bd" /><Relationship Type="http://schemas.openxmlformats.org/officeDocument/2006/relationships/chart" Target="/ppt/slides/charts/chart2.xml" Id="R064664f595204c40" /><Relationship Type="http://schemas.openxmlformats.org/officeDocument/2006/relationships/notesSlide" Target="/ppt/notesSlides/notesSlide2.xml" Id="Ra092f773f66648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9fbf8ad1dc4fd5" /><Relationship Type="http://schemas.openxmlformats.org/officeDocument/2006/relationships/notesSlide" Target="/ppt/notesSlides/notesSlide3.xml" Id="Rf15f0882bdcd4f11" /></Relationships>
</file>

<file path=ppt/slides/charts/chart1.xml><?xml version="1.0" encoding="utf-8"?>
<c:chartSpace xmlns:c="http://schemas.openxmlformats.org/drawingml/2006/chart">
  <c:lang val="en-US"/>
  <c:chart>
    <c:plotArea>
      <c:barChart>
        <c:barDir val="col"/>
        <c:grouping val="clustered"/>
        <c:varyColors val="0"/>
        <c:ser>
          <c:idx val="0"/>
          <c:order val="0"/>
          <c:tx>
            <c:v>Doanh thu thuần (tỷ VND)</c:v>
          </c:tx>
          <c:spPr>
            <a:solidFill xmlns:a="http://schemas.openxmlformats.org/drawingml/2006/main">
              <a:srgbClr val="2469C8"/>
            </a:solidFill>
          </c:spPr>
          <c:invertIfNegative val="0"/>
          <c:cat>
            <c:strLit>
              <c:ptCount val="5"/>
              <c:pt idx="0">
                <c:v>T01</c:v>
              </c:pt>
              <c:pt idx="1">
                <c:v>T02</c:v>
              </c:pt>
              <c:pt idx="2">
                <c:v>T03</c:v>
              </c:pt>
              <c:pt idx="3">
                <c:v>T04</c:v>
              </c:pt>
              <c:pt idx="4">
                <c:v>T05</c:v>
              </c:pt>
            </c:strLit>
          </c:cat>
          <c:val>
            <c:numLit>
              <c:formatCode>General</c:formatCode>
              <c:ptCount val="5"/>
              <c:pt idx="0">
                <c:v>7.28</c:v>
              </c:pt>
              <c:pt idx="1">
                <c:v>8.01</c:v>
              </c:pt>
              <c:pt idx="2">
                <c:v>9.36</c:v>
              </c:pt>
              <c:pt idx="3">
                <c:v>10.5</c:v>
              </c:pt>
              <c:pt idx="4">
                <c:v>12.45</c:v>
              </c:pt>
            </c:numLit>
          </c:val>
        </c:ser>
        <c:dLbls>
          <c:txPr>
            <a:bodyPr xmlns:a="http://schemas.openxmlformats.org/drawingml/2006/main" anchorCtr="1"/>
            <a:lstStyle xmlns:a="http://schemas.openxmlformats.org/drawingml/2006/main"/>
            <a:p xmlns:a="http://schemas.openxmlformats.org/drawingml/2006/main">
              <a:pPr>
                <a:defRPr sz="3000" b="1">
                  <a:solidFill>
                    <a:srgbClr val="123A72"/>
                  </a:solidFill>
                  <a:latin typeface="Arial"/>
                  <a:ea typeface="Arial"/>
                  <a:cs typeface="Arial"/>
                </a:defRPr>
              </a:pPr>
            </a:p>
          </c:txPr>
          <c:dLblPos val="outEnd"/>
          <c:showLegendKey val="0"/>
          <c:showVal val="0"/>
          <c:showCatName val="0"/>
          <c:showSerName val="0"/>
          <c:showPercent val="0"/>
          <c:showBubbleSize val="0"/>
          <c:showLeaderLines val="0"/>
        </c:dLbls>
        <c:gapWidth val="10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doughnutChart>
        <c:ser>
          <c:idx val="0"/>
          <c:order val="0"/>
          <c:tx>
            <c:v>Tỷ trọng chi phí (%)</c:v>
          </c:tx>
          <c:dPt>
            <c:idx val="0"/>
            <c:spPr>
              <a:solidFill xmlns:a="http://schemas.openxmlformats.org/drawingml/2006/main">
                <a:srgbClr val="2469C8"/>
              </a:solidFill>
            </c:spPr>
          </c:dPt>
          <c:dPt>
            <c:idx val="1"/>
            <c:spPr>
              <a:solidFill xmlns:a="http://schemas.openxmlformats.org/drawingml/2006/main">
                <a:srgbClr val="31935B"/>
              </a:solidFill>
            </c:spPr>
          </c:dPt>
          <c:dPt>
            <c:idx val="2"/>
            <c:spPr>
              <a:solidFill xmlns:a="http://schemas.openxmlformats.org/drawingml/2006/main">
                <a:srgbClr val="8051B8"/>
              </a:solidFill>
            </c:spPr>
          </c:dPt>
          <c:dPt>
            <c:idx val="3"/>
            <c:spPr>
              <a:solidFill xmlns:a="http://schemas.openxmlformats.org/drawingml/2006/main">
                <a:srgbClr val="E5902F"/>
              </a:solidFill>
            </c:spPr>
          </c:dPt>
          <c:cat>
            <c:strLit>
              <c:ptCount val="4"/>
              <c:pt idx="0">
                <c:v>Phí đối tác ngân hàng</c:v>
              </c:pt>
              <c:pt idx="1">
                <c:v>Vận hành</c:v>
              </c:pt>
              <c:pt idx="2">
                <c:v>Marketing</c:v>
              </c:pt>
              <c:pt idx="3">
                <c:v>Khác</c:v>
              </c:pt>
            </c:strLit>
          </c:cat>
          <c:val>
            <c:numLit>
              <c:formatCode>General</c:formatCode>
              <c:ptCount val="4"/>
              <c:pt idx="0">
                <c:v>46</c:v>
              </c:pt>
              <c:pt idx="1">
                <c:v>28</c:v>
              </c:pt>
              <c:pt idx="2">
                <c:v>16</c:v>
              </c:pt>
              <c:pt idx="3">
                <c:v>10</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firstSliceAng val="270"/>
        <c:holeSize val="62"/>
      </c:doughnutChart>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823196F-10EE-42F8-82CF-6B4BA1AE14E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A72"/>
          </a:solidFill>
          <a:ln xmlns:a="http://schemas.openxmlformats.org/drawingml/2006/main" w="0">
            <a:noFill/>
            <a:prstDash val="solid"/>
          </a:ln>
        </p:spPr>
      </p:sp>
      <p:sp>
        <p:nvSpPr>
          <p:cNvPr id="2" name="PayKX  |  Báo cáo lỗ lãi">
            <a:extLst xmlns:a="http://schemas.openxmlformats.org/drawingml/2006/main">
              <a:ext uri="{FF2B5EF4-FFF2-40B4-BE49-F238E27FC236}">
                <a16:creationId xmlns:a16="http://schemas.microsoft.com/office/drawing/2014/main" id="{69C8F6A6-C377-415A-811A-2C3953B9CF98}"/>
              </a:ext>
            </a:extLst>
          </p:cNvPr>
          <p:cNvSpPr>
            <a:spLocks xmlns:a="http://schemas.openxmlformats.org/drawingml/2006/main" noGrp="1"/>
          </p:cNvSpPr>
          <p:nvPr/>
        </p:nvSpPr>
        <p:spPr>
          <a:xfrm xmlns:a="http://schemas.openxmlformats.org/drawingml/2006/main">
            <a:off x="533400" y="323850"/>
            <a:ext cx="657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23A72"/>
                </a:solidFill>
                <a:latin typeface="Arial"/>
                <a:ea typeface="Arial"/>
                <a:cs typeface="Arial"/>
              </a:defRPr>
            </a:defPPr>
            <a:lvl1pPr algn="l">
              <a:defRPr b="1">
                <a:solidFill>
                  <a:srgbClr val="123A72"/>
                </a:solidFill>
                <a:latin typeface="Arial"/>
                <a:ea typeface="Arial"/>
                <a:cs typeface="Arial"/>
              </a:defRPr>
            </a:lvl1pPr>
            <a:lvl2pPr algn="l">
              <a:defRPr b="1">
                <a:solidFill>
                  <a:srgbClr val="123A72"/>
                </a:solidFill>
                <a:latin typeface="Arial"/>
                <a:ea typeface="Arial"/>
                <a:cs typeface="Arial"/>
              </a:defRPr>
            </a:lvl2pPr>
            <a:lvl3pPr algn="l">
              <a:defRPr b="1">
                <a:solidFill>
                  <a:srgbClr val="123A72"/>
                </a:solidFill>
                <a:latin typeface="Arial"/>
                <a:ea typeface="Arial"/>
                <a:cs typeface="Arial"/>
              </a:defRPr>
            </a:lvl3pPr>
            <a:lvl4pPr algn="l">
              <a:defRPr b="1">
                <a:solidFill>
                  <a:srgbClr val="123A72"/>
                </a:solidFill>
                <a:latin typeface="Arial"/>
                <a:ea typeface="Arial"/>
                <a:cs typeface="Arial"/>
              </a:defRPr>
            </a:lvl4pPr>
            <a:lvl5pPr algn="l">
              <a:defRPr b="1">
                <a:solidFill>
                  <a:srgbClr val="123A72"/>
                </a:solidFill>
                <a:latin typeface="Arial"/>
                <a:ea typeface="Arial"/>
                <a:cs typeface="Arial"/>
              </a:defRPr>
            </a:lvl5pPr>
            <a:lvl6pPr algn="l">
              <a:defRPr b="1">
                <a:solidFill>
                  <a:srgbClr val="123A72"/>
                </a:solidFill>
                <a:latin typeface="Arial"/>
                <a:ea typeface="Arial"/>
                <a:cs typeface="Arial"/>
              </a:defRPr>
            </a:lvl6pPr>
            <a:lvl7pPr algn="l">
              <a:defRPr b="1">
                <a:solidFill>
                  <a:srgbClr val="123A72"/>
                </a:solidFill>
                <a:latin typeface="Arial"/>
                <a:ea typeface="Arial"/>
                <a:cs typeface="Arial"/>
              </a:defRPr>
            </a:lvl7pPr>
            <a:lvl8pPr algn="l">
              <a:defRPr b="1">
                <a:solidFill>
                  <a:srgbClr val="123A72"/>
                </a:solidFill>
                <a:latin typeface="Arial"/>
                <a:ea typeface="Arial"/>
                <a:cs typeface="Arial"/>
              </a:defRPr>
            </a:lvl8pPr>
            <a:lvl9pPr algn="l">
              <a:defRPr b="1">
                <a:solidFill>
                  <a:srgbClr val="123A72"/>
                </a:solidFill>
                <a:latin typeface="Arial"/>
                <a:ea typeface="Arial"/>
                <a:cs typeface="Arial"/>
              </a:defRPr>
            </a:lvl9pPr>
          </a:lstStyle>
          <a:p xmlns:a="http://schemas.openxmlformats.org/drawingml/2006/main">
            <a:pPr algn="l">
              <a:defRPr b="1">
                <a:solidFill>
                  <a:srgbClr val="123A72"/>
                </a:solidFill>
                <a:latin typeface="Arial"/>
                <a:ea typeface="Arial"/>
                <a:cs typeface="Arial"/>
              </a:defRPr>
            </a:pPr>
            <a:r>
              <a:rPr b="1">
                <a:solidFill>
                  <a:srgbClr val="123A72"/>
                </a:solidFill>
                <a:latin typeface="Arial"/>
                <a:ea typeface="Arial"/>
                <a:cs typeface="Arial"/>
              </a:rPr>
              <a:t>PayKX  |  Báo cáo lỗ lãi</a:t>
            </a:r>
          </a:p>
        </p:txBody>
      </p:sp>
      <p:sp>
        <p:nvSpPr>
          <p:cNvPr id="3" name="Tháng 05/2024     •     01">
            <a:extLst xmlns:a="http://schemas.openxmlformats.org/drawingml/2006/main">
              <a:ext uri="{FF2B5EF4-FFF2-40B4-BE49-F238E27FC236}">
                <a16:creationId xmlns:a16="http://schemas.microsoft.com/office/drawing/2014/main" id="{EC353EB9-E9E7-4BF4-8C18-1649F7D50FF3}"/>
              </a:ext>
            </a:extLst>
          </p:cNvPr>
          <p:cNvSpPr>
            <a:spLocks xmlns:a="http://schemas.openxmlformats.org/drawingml/2006/main" noGrp="1"/>
          </p:cNvSpPr>
          <p:nvPr/>
        </p:nvSpPr>
        <p:spPr>
          <a:xfrm xmlns:a="http://schemas.openxmlformats.org/drawingml/2006/main">
            <a:off x="8763000" y="32385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b="0">
                <a:solidFill>
                  <a:srgbClr val="5D6B80"/>
                </a:solidFill>
                <a:latin typeface="Arial"/>
                <a:ea typeface="Arial"/>
                <a:cs typeface="Arial"/>
              </a:defRPr>
            </a:defPPr>
            <a:lvl1pPr algn="r">
              <a:defRPr b="0">
                <a:solidFill>
                  <a:srgbClr val="5D6B80"/>
                </a:solidFill>
                <a:latin typeface="Arial"/>
                <a:ea typeface="Arial"/>
                <a:cs typeface="Arial"/>
              </a:defRPr>
            </a:lvl1pPr>
            <a:lvl2pPr algn="r">
              <a:defRPr b="0">
                <a:solidFill>
                  <a:srgbClr val="5D6B80"/>
                </a:solidFill>
                <a:latin typeface="Arial"/>
                <a:ea typeface="Arial"/>
                <a:cs typeface="Arial"/>
              </a:defRPr>
            </a:lvl2pPr>
            <a:lvl3pPr algn="r">
              <a:defRPr b="0">
                <a:solidFill>
                  <a:srgbClr val="5D6B80"/>
                </a:solidFill>
                <a:latin typeface="Arial"/>
                <a:ea typeface="Arial"/>
                <a:cs typeface="Arial"/>
              </a:defRPr>
            </a:lvl3pPr>
            <a:lvl4pPr algn="r">
              <a:defRPr b="0">
                <a:solidFill>
                  <a:srgbClr val="5D6B80"/>
                </a:solidFill>
                <a:latin typeface="Arial"/>
                <a:ea typeface="Arial"/>
                <a:cs typeface="Arial"/>
              </a:defRPr>
            </a:lvl4pPr>
            <a:lvl5pPr algn="r">
              <a:defRPr b="0">
                <a:solidFill>
                  <a:srgbClr val="5D6B80"/>
                </a:solidFill>
                <a:latin typeface="Arial"/>
                <a:ea typeface="Arial"/>
                <a:cs typeface="Arial"/>
              </a:defRPr>
            </a:lvl5pPr>
            <a:lvl6pPr algn="r">
              <a:defRPr b="0">
                <a:solidFill>
                  <a:srgbClr val="5D6B80"/>
                </a:solidFill>
                <a:latin typeface="Arial"/>
                <a:ea typeface="Arial"/>
                <a:cs typeface="Arial"/>
              </a:defRPr>
            </a:lvl6pPr>
            <a:lvl7pPr algn="r">
              <a:defRPr b="0">
                <a:solidFill>
                  <a:srgbClr val="5D6B80"/>
                </a:solidFill>
                <a:latin typeface="Arial"/>
                <a:ea typeface="Arial"/>
                <a:cs typeface="Arial"/>
              </a:defRPr>
            </a:lvl7pPr>
            <a:lvl8pPr algn="r">
              <a:defRPr b="0">
                <a:solidFill>
                  <a:srgbClr val="5D6B80"/>
                </a:solidFill>
                <a:latin typeface="Arial"/>
                <a:ea typeface="Arial"/>
                <a:cs typeface="Arial"/>
              </a:defRPr>
            </a:lvl8pPr>
            <a:lvl9pPr algn="r">
              <a:defRPr b="0">
                <a:solidFill>
                  <a:srgbClr val="5D6B80"/>
                </a:solidFill>
                <a:latin typeface="Arial"/>
                <a:ea typeface="Arial"/>
                <a:cs typeface="Arial"/>
              </a:defRPr>
            </a:lvl9pPr>
          </a:lstStyle>
          <a:p xmlns:a="http://schemas.openxmlformats.org/drawingml/2006/main">
            <a:pPr algn="r">
              <a:defRPr b="0">
                <a:solidFill>
                  <a:srgbClr val="5D6B80"/>
                </a:solidFill>
                <a:latin typeface="Arial"/>
                <a:ea typeface="Arial"/>
                <a:cs typeface="Arial"/>
              </a:defRPr>
            </a:pPr>
            <a:r>
              <a:rPr b="0">
                <a:solidFill>
                  <a:srgbClr val="5D6B80"/>
                </a:solidFill>
                <a:latin typeface="Arial"/>
                <a:ea typeface="Arial"/>
                <a:cs typeface="Arial"/>
              </a:rPr>
              <a:t>Tháng 05/2024     •     01</a:t>
            </a:r>
          </a:p>
        </p:txBody>
      </p:sp>
      <p:sp>
        <p:nvSpPr>
          <p:cNvPr id="4" name="">
            <a:extLst xmlns:a="http://schemas.openxmlformats.org/drawingml/2006/main">
              <a:ext uri="{FF2B5EF4-FFF2-40B4-BE49-F238E27FC236}">
                <a16:creationId xmlns:a16="http://schemas.microsoft.com/office/drawing/2014/main" id="{F176EF9E-18D5-40D7-9B05-76877C263A75}"/>
              </a:ext>
            </a:extLst>
          </p:cNvPr>
          <p:cNvSpPr>
            <a:spLocks xmlns:a="http://schemas.openxmlformats.org/drawingml/2006/main" noGrp="1"/>
          </p:cNvSpPr>
          <p:nvPr/>
        </p:nvSpPr>
        <p:spPr>
          <a:xfrm xmlns:a="http://schemas.openxmlformats.org/drawingml/2006/main">
            <a:off x="533400" y="895350"/>
            <a:ext cx="11125200" cy="19050"/>
          </a:xfrm>
          <a:prstGeom xmlns:a="http://schemas.openxmlformats.org/drawingml/2006/main" prst="rect">
            <a:avLst/>
          </a:prstGeom>
          <a:solidFill xmlns:a="http://schemas.openxmlformats.org/drawingml/2006/main">
            <a:srgbClr val="D9E2EF"/>
          </a:solidFill>
          <a:ln xmlns:a="http://schemas.openxmlformats.org/drawingml/2006/main" w="0">
            <a:noFill/>
            <a:prstDash val="solid"/>
          </a:ln>
        </p:spPr>
      </p:sp>
      <p:sp>
        <p:nvSpPr>
          <p:cNvPr id="5" name="Doanh thu thuần đạt 12,45 tỷ">
            <a:extLst xmlns:a="http://schemas.openxmlformats.org/drawingml/2006/main">
              <a:ext uri="{FF2B5EF4-FFF2-40B4-BE49-F238E27FC236}">
                <a16:creationId xmlns:a16="http://schemas.microsoft.com/office/drawing/2014/main" id="{4B4D0A21-3727-4CCB-9540-D834ABBC694F}"/>
              </a:ext>
            </a:extLst>
          </p:cNvPr>
          <p:cNvSpPr>
            <a:spLocks xmlns:a="http://schemas.openxmlformats.org/drawingml/2006/main" noGrp="1"/>
          </p:cNvSpPr>
          <p:nvPr/>
        </p:nvSpPr>
        <p:spPr>
          <a:xfrm xmlns:a="http://schemas.openxmlformats.org/drawingml/2006/main">
            <a:off x="533400" y="112395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23A72"/>
                </a:solidFill>
                <a:latin typeface="Arial"/>
                <a:ea typeface="Arial"/>
                <a:cs typeface="Arial"/>
              </a:defRPr>
            </a:defPPr>
            <a:lvl1pPr algn="l">
              <a:defRPr b="1">
                <a:solidFill>
                  <a:srgbClr val="123A72"/>
                </a:solidFill>
                <a:latin typeface="Arial"/>
                <a:ea typeface="Arial"/>
                <a:cs typeface="Arial"/>
              </a:defRPr>
            </a:lvl1pPr>
            <a:lvl2pPr algn="l">
              <a:defRPr b="1">
                <a:solidFill>
                  <a:srgbClr val="123A72"/>
                </a:solidFill>
                <a:latin typeface="Arial"/>
                <a:ea typeface="Arial"/>
                <a:cs typeface="Arial"/>
              </a:defRPr>
            </a:lvl2pPr>
            <a:lvl3pPr algn="l">
              <a:defRPr b="1">
                <a:solidFill>
                  <a:srgbClr val="123A72"/>
                </a:solidFill>
                <a:latin typeface="Arial"/>
                <a:ea typeface="Arial"/>
                <a:cs typeface="Arial"/>
              </a:defRPr>
            </a:lvl3pPr>
            <a:lvl4pPr algn="l">
              <a:defRPr b="1">
                <a:solidFill>
                  <a:srgbClr val="123A72"/>
                </a:solidFill>
                <a:latin typeface="Arial"/>
                <a:ea typeface="Arial"/>
                <a:cs typeface="Arial"/>
              </a:defRPr>
            </a:lvl4pPr>
            <a:lvl5pPr algn="l">
              <a:defRPr b="1">
                <a:solidFill>
                  <a:srgbClr val="123A72"/>
                </a:solidFill>
                <a:latin typeface="Arial"/>
                <a:ea typeface="Arial"/>
                <a:cs typeface="Arial"/>
              </a:defRPr>
            </a:lvl5pPr>
            <a:lvl6pPr algn="l">
              <a:defRPr b="1">
                <a:solidFill>
                  <a:srgbClr val="123A72"/>
                </a:solidFill>
                <a:latin typeface="Arial"/>
                <a:ea typeface="Arial"/>
                <a:cs typeface="Arial"/>
              </a:defRPr>
            </a:lvl6pPr>
            <a:lvl7pPr algn="l">
              <a:defRPr b="1">
                <a:solidFill>
                  <a:srgbClr val="123A72"/>
                </a:solidFill>
                <a:latin typeface="Arial"/>
                <a:ea typeface="Arial"/>
                <a:cs typeface="Arial"/>
              </a:defRPr>
            </a:lvl7pPr>
            <a:lvl8pPr algn="l">
              <a:defRPr b="1">
                <a:solidFill>
                  <a:srgbClr val="123A72"/>
                </a:solidFill>
                <a:latin typeface="Arial"/>
                <a:ea typeface="Arial"/>
                <a:cs typeface="Arial"/>
              </a:defRPr>
            </a:lvl8pPr>
            <a:lvl9pPr algn="l">
              <a:defRPr b="1">
                <a:solidFill>
                  <a:srgbClr val="123A72"/>
                </a:solidFill>
                <a:latin typeface="Arial"/>
                <a:ea typeface="Arial"/>
                <a:cs typeface="Arial"/>
              </a:defRPr>
            </a:lvl9pPr>
          </a:lstStyle>
          <a:p xmlns:a="http://schemas.openxmlformats.org/drawingml/2006/main">
            <a:pPr algn="l">
              <a:defRPr b="1">
                <a:solidFill>
                  <a:srgbClr val="123A72"/>
                </a:solidFill>
                <a:latin typeface="Arial"/>
                <a:ea typeface="Arial"/>
                <a:cs typeface="Arial"/>
              </a:defRPr>
            </a:pPr>
            <a:r>
              <a:rPr b="1">
                <a:solidFill>
                  <a:srgbClr val="123A72"/>
                </a:solidFill>
                <a:latin typeface="Arial"/>
                <a:ea typeface="Arial"/>
                <a:cs typeface="Arial"/>
              </a:rPr>
              <a:t>Doanh thu thuần đạt 12,45 tỷ đồng trong tháng 5</a:t>
            </a:r>
          </a:p>
        </p:txBody>
      </p:sp>
      <p:sp>
        <p:nvSpPr>
          <p:cNvPr id="6" name="Tăng 18,6% so với tháng 4  |">
            <a:extLst xmlns:a="http://schemas.openxmlformats.org/drawingml/2006/main">
              <a:ext uri="{FF2B5EF4-FFF2-40B4-BE49-F238E27FC236}">
                <a16:creationId xmlns:a16="http://schemas.microsoft.com/office/drawing/2014/main" id="{978281F6-32B2-4F44-8F9C-6B79A145E7E3}"/>
              </a:ext>
            </a:extLst>
          </p:cNvPr>
          <p:cNvSpPr>
            <a:spLocks xmlns:a="http://schemas.openxmlformats.org/drawingml/2006/main" noGrp="1"/>
          </p:cNvSpPr>
          <p:nvPr/>
        </p:nvSpPr>
        <p:spPr>
          <a:xfrm xmlns:a="http://schemas.openxmlformats.org/drawingml/2006/main">
            <a:off x="533400" y="1809750"/>
            <a:ext cx="1112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0">
                <a:solidFill>
                  <a:srgbClr val="5D6B80"/>
                </a:solidFill>
                <a:latin typeface="Arial"/>
                <a:ea typeface="Arial"/>
                <a:cs typeface="Arial"/>
              </a:defRPr>
            </a:defPPr>
            <a:lvl1pPr algn="l">
              <a:defRPr b="0">
                <a:solidFill>
                  <a:srgbClr val="5D6B80"/>
                </a:solidFill>
                <a:latin typeface="Arial"/>
                <a:ea typeface="Arial"/>
                <a:cs typeface="Arial"/>
              </a:defRPr>
            </a:lvl1pPr>
            <a:lvl2pPr algn="l">
              <a:defRPr b="0">
                <a:solidFill>
                  <a:srgbClr val="5D6B80"/>
                </a:solidFill>
                <a:latin typeface="Arial"/>
                <a:ea typeface="Arial"/>
                <a:cs typeface="Arial"/>
              </a:defRPr>
            </a:lvl2pPr>
            <a:lvl3pPr algn="l">
              <a:defRPr b="0">
                <a:solidFill>
                  <a:srgbClr val="5D6B80"/>
                </a:solidFill>
                <a:latin typeface="Arial"/>
                <a:ea typeface="Arial"/>
                <a:cs typeface="Arial"/>
              </a:defRPr>
            </a:lvl3pPr>
            <a:lvl4pPr algn="l">
              <a:defRPr b="0">
                <a:solidFill>
                  <a:srgbClr val="5D6B80"/>
                </a:solidFill>
                <a:latin typeface="Arial"/>
                <a:ea typeface="Arial"/>
                <a:cs typeface="Arial"/>
              </a:defRPr>
            </a:lvl4pPr>
            <a:lvl5pPr algn="l">
              <a:defRPr b="0">
                <a:solidFill>
                  <a:srgbClr val="5D6B80"/>
                </a:solidFill>
                <a:latin typeface="Arial"/>
                <a:ea typeface="Arial"/>
                <a:cs typeface="Arial"/>
              </a:defRPr>
            </a:lvl5pPr>
            <a:lvl6pPr algn="l">
              <a:defRPr b="0">
                <a:solidFill>
                  <a:srgbClr val="5D6B80"/>
                </a:solidFill>
                <a:latin typeface="Arial"/>
                <a:ea typeface="Arial"/>
                <a:cs typeface="Arial"/>
              </a:defRPr>
            </a:lvl6pPr>
            <a:lvl7pPr algn="l">
              <a:defRPr b="0">
                <a:solidFill>
                  <a:srgbClr val="5D6B80"/>
                </a:solidFill>
                <a:latin typeface="Arial"/>
                <a:ea typeface="Arial"/>
                <a:cs typeface="Arial"/>
              </a:defRPr>
            </a:lvl7pPr>
            <a:lvl8pPr algn="l">
              <a:defRPr b="0">
                <a:solidFill>
                  <a:srgbClr val="5D6B80"/>
                </a:solidFill>
                <a:latin typeface="Arial"/>
                <a:ea typeface="Arial"/>
                <a:cs typeface="Arial"/>
              </a:defRPr>
            </a:lvl8pPr>
            <a:lvl9pPr algn="l">
              <a:defRPr b="0">
                <a:solidFill>
                  <a:srgbClr val="5D6B80"/>
                </a:solidFill>
                <a:latin typeface="Arial"/>
                <a:ea typeface="Arial"/>
                <a:cs typeface="Arial"/>
              </a:defRPr>
            </a:lvl9pPr>
          </a:lstStyle>
          <a:p xmlns:a="http://schemas.openxmlformats.org/drawingml/2006/main">
            <a:pPr algn="l">
              <a:defRPr b="0">
                <a:solidFill>
                  <a:srgbClr val="5D6B80"/>
                </a:solidFill>
                <a:latin typeface="Arial"/>
                <a:ea typeface="Arial"/>
                <a:cs typeface="Arial"/>
              </a:defRPr>
            </a:pPr>
            <a:r>
              <a:rPr b="0">
                <a:solidFill>
                  <a:srgbClr val="5D6B80"/>
                </a:solidFill>
                <a:latin typeface="Arial"/>
                <a:ea typeface="Arial"/>
                <a:cs typeface="Arial"/>
              </a:rPr>
              <a:t>Tăng 18,6% so với tháng 4  |  Doanh thu tăng đều qua T01–T05</a:t>
            </a:r>
          </a:p>
        </p:txBody>
      </p:sp>
      <p:sp>
        <p:nvSpPr>
          <p:cNvPr id="7" name="">
            <a:extLst xmlns:a="http://schemas.openxmlformats.org/drawingml/2006/main">
              <a:ext uri="{FF2B5EF4-FFF2-40B4-BE49-F238E27FC236}">
                <a16:creationId xmlns:a16="http://schemas.microsoft.com/office/drawing/2014/main" id="{89EA558B-3015-4E4A-9509-9FAEEE7A4446}"/>
              </a:ext>
            </a:extLst>
          </p:cNvPr>
          <p:cNvSpPr>
            <a:spLocks xmlns:a="http://schemas.openxmlformats.org/drawingml/2006/main" noGrp="1"/>
          </p:cNvSpPr>
          <p:nvPr/>
        </p:nvSpPr>
        <p:spPr>
          <a:xfrm xmlns:a="http://schemas.openxmlformats.org/drawingml/2006/main">
            <a:off x="533400" y="2476500"/>
            <a:ext cx="2628900" cy="1219200"/>
          </a:xfrm>
          <a:prstGeom xmlns:a="http://schemas.openxmlformats.org/drawingml/2006/main" prst="roundRect">
            <a:avLst>
              <a:gd name="adj" fmla="val 14063"/>
            </a:avLst>
          </a:prstGeom>
          <a:solidFill xmlns:a="http://schemas.openxmlformats.org/drawingml/2006/main">
            <a:srgbClr val="EEF4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D7B120-9467-4C40-AAEE-225C0B27141B}"/>
              </a:ext>
            </a:extLst>
          </p:cNvPr>
          <p:cNvSpPr>
            <a:spLocks xmlns:a="http://schemas.openxmlformats.org/drawingml/2006/main" noGrp="1"/>
          </p:cNvSpPr>
          <p:nvPr/>
        </p:nvSpPr>
        <p:spPr>
          <a:xfrm xmlns:a="http://schemas.openxmlformats.org/drawingml/2006/main">
            <a:off x="533400" y="2476500"/>
            <a:ext cx="95250" cy="1219200"/>
          </a:xfrm>
          <a:prstGeom xmlns:a="http://schemas.openxmlformats.org/drawingml/2006/main" prst="rect">
            <a:avLst/>
          </a:prstGeom>
          <a:solidFill xmlns:a="http://schemas.openxmlformats.org/drawingml/2006/main">
            <a:srgbClr val="2469C8"/>
          </a:solidFill>
          <a:ln xmlns:a="http://schemas.openxmlformats.org/drawingml/2006/main" w="0">
            <a:noFill/>
            <a:prstDash val="solid"/>
          </a:ln>
        </p:spPr>
      </p:sp>
      <p:sp>
        <p:nvSpPr>
          <p:cNvPr id="9" name="12,45">
            <a:extLst xmlns:a="http://schemas.openxmlformats.org/drawingml/2006/main">
              <a:ext uri="{FF2B5EF4-FFF2-40B4-BE49-F238E27FC236}">
                <a16:creationId xmlns:a16="http://schemas.microsoft.com/office/drawing/2014/main" id="{7B7CB269-6E79-4D00-811B-6284124A6F09}"/>
              </a:ext>
            </a:extLst>
          </p:cNvPr>
          <p:cNvSpPr>
            <a:spLocks xmlns:a="http://schemas.openxmlformats.org/drawingml/2006/main" noGrp="1"/>
          </p:cNvSpPr>
          <p:nvPr/>
        </p:nvSpPr>
        <p:spPr>
          <a:xfrm xmlns:a="http://schemas.openxmlformats.org/drawingml/2006/main">
            <a:off x="762000" y="260985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2469C8"/>
                </a:solidFill>
                <a:latin typeface="Arial"/>
                <a:ea typeface="Arial"/>
                <a:cs typeface="Arial"/>
              </a:defRPr>
            </a:defPPr>
            <a:lvl1pPr algn="l">
              <a:defRPr b="1">
                <a:solidFill>
                  <a:srgbClr val="2469C8"/>
                </a:solidFill>
                <a:latin typeface="Arial"/>
                <a:ea typeface="Arial"/>
                <a:cs typeface="Arial"/>
              </a:defRPr>
            </a:lvl1pPr>
            <a:lvl2pPr algn="l">
              <a:defRPr b="1">
                <a:solidFill>
                  <a:srgbClr val="2469C8"/>
                </a:solidFill>
                <a:latin typeface="Arial"/>
                <a:ea typeface="Arial"/>
                <a:cs typeface="Arial"/>
              </a:defRPr>
            </a:lvl2pPr>
            <a:lvl3pPr algn="l">
              <a:defRPr b="1">
                <a:solidFill>
                  <a:srgbClr val="2469C8"/>
                </a:solidFill>
                <a:latin typeface="Arial"/>
                <a:ea typeface="Arial"/>
                <a:cs typeface="Arial"/>
              </a:defRPr>
            </a:lvl3pPr>
            <a:lvl4pPr algn="l">
              <a:defRPr b="1">
                <a:solidFill>
                  <a:srgbClr val="2469C8"/>
                </a:solidFill>
                <a:latin typeface="Arial"/>
                <a:ea typeface="Arial"/>
                <a:cs typeface="Arial"/>
              </a:defRPr>
            </a:lvl4pPr>
            <a:lvl5pPr algn="l">
              <a:defRPr b="1">
                <a:solidFill>
                  <a:srgbClr val="2469C8"/>
                </a:solidFill>
                <a:latin typeface="Arial"/>
                <a:ea typeface="Arial"/>
                <a:cs typeface="Arial"/>
              </a:defRPr>
            </a:lvl5pPr>
            <a:lvl6pPr algn="l">
              <a:defRPr b="1">
                <a:solidFill>
                  <a:srgbClr val="2469C8"/>
                </a:solidFill>
                <a:latin typeface="Arial"/>
                <a:ea typeface="Arial"/>
                <a:cs typeface="Arial"/>
              </a:defRPr>
            </a:lvl6pPr>
            <a:lvl7pPr algn="l">
              <a:defRPr b="1">
                <a:solidFill>
                  <a:srgbClr val="2469C8"/>
                </a:solidFill>
                <a:latin typeface="Arial"/>
                <a:ea typeface="Arial"/>
                <a:cs typeface="Arial"/>
              </a:defRPr>
            </a:lvl7pPr>
            <a:lvl8pPr algn="l">
              <a:defRPr b="1">
                <a:solidFill>
                  <a:srgbClr val="2469C8"/>
                </a:solidFill>
                <a:latin typeface="Arial"/>
                <a:ea typeface="Arial"/>
                <a:cs typeface="Arial"/>
              </a:defRPr>
            </a:lvl8pPr>
            <a:lvl9pPr algn="l">
              <a:defRPr b="1">
                <a:solidFill>
                  <a:srgbClr val="2469C8"/>
                </a:solidFill>
                <a:latin typeface="Arial"/>
                <a:ea typeface="Arial"/>
                <a:cs typeface="Arial"/>
              </a:defRPr>
            </a:lvl9pPr>
          </a:lstStyle>
          <a:p xmlns:a="http://schemas.openxmlformats.org/drawingml/2006/main">
            <a:pPr algn="l">
              <a:defRPr b="1">
                <a:solidFill>
                  <a:srgbClr val="2469C8"/>
                </a:solidFill>
                <a:latin typeface="Arial"/>
                <a:ea typeface="Arial"/>
                <a:cs typeface="Arial"/>
              </a:defRPr>
            </a:pPr>
            <a:r>
              <a:rPr b="1">
                <a:solidFill>
                  <a:srgbClr val="2469C8"/>
                </a:solidFill>
                <a:latin typeface="Arial"/>
                <a:ea typeface="Arial"/>
                <a:cs typeface="Arial"/>
              </a:rPr>
              <a:t>12,45</a:t>
            </a:r>
          </a:p>
        </p:txBody>
      </p:sp>
      <p:sp>
        <p:nvSpPr>
          <p:cNvPr id="10" name="TỶ VND  •  DOANH THU THUẦN">
            <a:extLst xmlns:a="http://schemas.openxmlformats.org/drawingml/2006/main">
              <a:ext uri="{FF2B5EF4-FFF2-40B4-BE49-F238E27FC236}">
                <a16:creationId xmlns:a16="http://schemas.microsoft.com/office/drawing/2014/main" id="{5672BBF3-373C-45F5-93D9-9594B1303E65}"/>
              </a:ext>
            </a:extLst>
          </p:cNvPr>
          <p:cNvSpPr>
            <a:spLocks xmlns:a="http://schemas.openxmlformats.org/drawingml/2006/main" noGrp="1"/>
          </p:cNvSpPr>
          <p:nvPr/>
        </p:nvSpPr>
        <p:spPr>
          <a:xfrm xmlns:a="http://schemas.openxmlformats.org/drawingml/2006/main">
            <a:off x="762000" y="3181350"/>
            <a:ext cx="222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6389"/>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TỶ VND  •  DOANH THU THUẦN</a:t>
            </a:r>
          </a:p>
        </p:txBody>
      </p:sp>
      <p:sp>
        <p:nvSpPr>
          <p:cNvPr id="11" name="">
            <a:extLst xmlns:a="http://schemas.openxmlformats.org/drawingml/2006/main">
              <a:ext uri="{FF2B5EF4-FFF2-40B4-BE49-F238E27FC236}">
                <a16:creationId xmlns:a16="http://schemas.microsoft.com/office/drawing/2014/main" id="{950050BD-BFC5-42CD-8407-D2ACDE87A913}"/>
              </a:ext>
            </a:extLst>
          </p:cNvPr>
          <p:cNvSpPr>
            <a:spLocks xmlns:a="http://schemas.openxmlformats.org/drawingml/2006/main" noGrp="1"/>
          </p:cNvSpPr>
          <p:nvPr/>
        </p:nvSpPr>
        <p:spPr>
          <a:xfrm xmlns:a="http://schemas.openxmlformats.org/drawingml/2006/main">
            <a:off x="3352800" y="2476500"/>
            <a:ext cx="2628900" cy="1219200"/>
          </a:xfrm>
          <a:prstGeom xmlns:a="http://schemas.openxmlformats.org/drawingml/2006/main" prst="roundRect">
            <a:avLst>
              <a:gd name="adj" fmla="val 14063"/>
            </a:avLst>
          </a:prstGeom>
          <a:solidFill xmlns:a="http://schemas.openxmlformats.org/drawingml/2006/main">
            <a:srgbClr val="EEF4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D4E6D8-CAAC-4991-8FA6-0690BA4FAADD}"/>
              </a:ext>
            </a:extLst>
          </p:cNvPr>
          <p:cNvSpPr>
            <a:spLocks xmlns:a="http://schemas.openxmlformats.org/drawingml/2006/main" noGrp="1"/>
          </p:cNvSpPr>
          <p:nvPr/>
        </p:nvSpPr>
        <p:spPr>
          <a:xfrm xmlns:a="http://schemas.openxmlformats.org/drawingml/2006/main">
            <a:off x="3352800" y="2476500"/>
            <a:ext cx="95250" cy="1219200"/>
          </a:xfrm>
          <a:prstGeom xmlns:a="http://schemas.openxmlformats.org/drawingml/2006/main" prst="rect">
            <a:avLst/>
          </a:prstGeom>
          <a:solidFill xmlns:a="http://schemas.openxmlformats.org/drawingml/2006/main">
            <a:srgbClr val="31935B"/>
          </a:solidFill>
          <a:ln xmlns:a="http://schemas.openxmlformats.org/drawingml/2006/main" w="0">
            <a:noFill/>
            <a:prstDash val="solid"/>
          </a:ln>
        </p:spPr>
      </p:sp>
      <p:sp>
        <p:nvSpPr>
          <p:cNvPr id="13" name="7,28">
            <a:extLst xmlns:a="http://schemas.openxmlformats.org/drawingml/2006/main">
              <a:ext uri="{FF2B5EF4-FFF2-40B4-BE49-F238E27FC236}">
                <a16:creationId xmlns:a16="http://schemas.microsoft.com/office/drawing/2014/main" id="{662DD11A-8E08-4614-A1BF-783581D5A7A3}"/>
              </a:ext>
            </a:extLst>
          </p:cNvPr>
          <p:cNvSpPr>
            <a:spLocks xmlns:a="http://schemas.openxmlformats.org/drawingml/2006/main" noGrp="1"/>
          </p:cNvSpPr>
          <p:nvPr/>
        </p:nvSpPr>
        <p:spPr>
          <a:xfrm xmlns:a="http://schemas.openxmlformats.org/drawingml/2006/main">
            <a:off x="3581400" y="260985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31935B"/>
                </a:solidFill>
                <a:latin typeface="Arial"/>
                <a:ea typeface="Arial"/>
                <a:cs typeface="Arial"/>
              </a:defRPr>
            </a:defPPr>
            <a:lvl1pPr algn="l">
              <a:defRPr b="1">
                <a:solidFill>
                  <a:srgbClr val="31935B"/>
                </a:solidFill>
                <a:latin typeface="Arial"/>
                <a:ea typeface="Arial"/>
                <a:cs typeface="Arial"/>
              </a:defRPr>
            </a:lvl1pPr>
            <a:lvl2pPr algn="l">
              <a:defRPr b="1">
                <a:solidFill>
                  <a:srgbClr val="31935B"/>
                </a:solidFill>
                <a:latin typeface="Arial"/>
                <a:ea typeface="Arial"/>
                <a:cs typeface="Arial"/>
              </a:defRPr>
            </a:lvl2pPr>
            <a:lvl3pPr algn="l">
              <a:defRPr b="1">
                <a:solidFill>
                  <a:srgbClr val="31935B"/>
                </a:solidFill>
                <a:latin typeface="Arial"/>
                <a:ea typeface="Arial"/>
                <a:cs typeface="Arial"/>
              </a:defRPr>
            </a:lvl3pPr>
            <a:lvl4pPr algn="l">
              <a:defRPr b="1">
                <a:solidFill>
                  <a:srgbClr val="31935B"/>
                </a:solidFill>
                <a:latin typeface="Arial"/>
                <a:ea typeface="Arial"/>
                <a:cs typeface="Arial"/>
              </a:defRPr>
            </a:lvl4pPr>
            <a:lvl5pPr algn="l">
              <a:defRPr b="1">
                <a:solidFill>
                  <a:srgbClr val="31935B"/>
                </a:solidFill>
                <a:latin typeface="Arial"/>
                <a:ea typeface="Arial"/>
                <a:cs typeface="Arial"/>
              </a:defRPr>
            </a:lvl5pPr>
            <a:lvl6pPr algn="l">
              <a:defRPr b="1">
                <a:solidFill>
                  <a:srgbClr val="31935B"/>
                </a:solidFill>
                <a:latin typeface="Arial"/>
                <a:ea typeface="Arial"/>
                <a:cs typeface="Arial"/>
              </a:defRPr>
            </a:lvl6pPr>
            <a:lvl7pPr algn="l">
              <a:defRPr b="1">
                <a:solidFill>
                  <a:srgbClr val="31935B"/>
                </a:solidFill>
                <a:latin typeface="Arial"/>
                <a:ea typeface="Arial"/>
                <a:cs typeface="Arial"/>
              </a:defRPr>
            </a:lvl7pPr>
            <a:lvl8pPr algn="l">
              <a:defRPr b="1">
                <a:solidFill>
                  <a:srgbClr val="31935B"/>
                </a:solidFill>
                <a:latin typeface="Arial"/>
                <a:ea typeface="Arial"/>
                <a:cs typeface="Arial"/>
              </a:defRPr>
            </a:lvl8pPr>
            <a:lvl9pPr algn="l">
              <a:defRPr b="1">
                <a:solidFill>
                  <a:srgbClr val="31935B"/>
                </a:solidFill>
                <a:latin typeface="Arial"/>
                <a:ea typeface="Arial"/>
                <a:cs typeface="Arial"/>
              </a:defRPr>
            </a:lvl9pPr>
          </a:lstStyle>
          <a:p xmlns:a="http://schemas.openxmlformats.org/drawingml/2006/main">
            <a:pPr algn="l">
              <a:defRPr b="1">
                <a:solidFill>
                  <a:srgbClr val="31935B"/>
                </a:solidFill>
                <a:latin typeface="Arial"/>
                <a:ea typeface="Arial"/>
                <a:cs typeface="Arial"/>
              </a:defRPr>
            </a:pPr>
            <a:r>
              <a:rPr b="1">
                <a:solidFill>
                  <a:srgbClr val="31935B"/>
                </a:solidFill>
                <a:latin typeface="Arial"/>
                <a:ea typeface="Arial"/>
                <a:cs typeface="Arial"/>
              </a:rPr>
              <a:t>7,28</a:t>
            </a:r>
          </a:p>
        </p:txBody>
      </p:sp>
      <p:sp>
        <p:nvSpPr>
          <p:cNvPr id="14" name="TỶ VND  •  TỔNG CHI PHÍ">
            <a:extLst xmlns:a="http://schemas.openxmlformats.org/drawingml/2006/main">
              <a:ext uri="{FF2B5EF4-FFF2-40B4-BE49-F238E27FC236}">
                <a16:creationId xmlns:a16="http://schemas.microsoft.com/office/drawing/2014/main" id="{E7104876-75CC-4A3E-8A39-D90A48F542A8}"/>
              </a:ext>
            </a:extLst>
          </p:cNvPr>
          <p:cNvSpPr>
            <a:spLocks xmlns:a="http://schemas.openxmlformats.org/drawingml/2006/main" noGrp="1"/>
          </p:cNvSpPr>
          <p:nvPr/>
        </p:nvSpPr>
        <p:spPr>
          <a:xfrm xmlns:a="http://schemas.openxmlformats.org/drawingml/2006/main">
            <a:off x="3581400" y="3181350"/>
            <a:ext cx="222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269"/>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TỶ VND  •  TỔNG CHI PHÍ</a:t>
            </a:r>
          </a:p>
        </p:txBody>
      </p:sp>
      <p:sp>
        <p:nvSpPr>
          <p:cNvPr id="15" name="">
            <a:extLst xmlns:a="http://schemas.openxmlformats.org/drawingml/2006/main">
              <a:ext uri="{FF2B5EF4-FFF2-40B4-BE49-F238E27FC236}">
                <a16:creationId xmlns:a16="http://schemas.microsoft.com/office/drawing/2014/main" id="{1E074961-4780-4C3B-9588-AE0E5D7BA75D}"/>
              </a:ext>
            </a:extLst>
          </p:cNvPr>
          <p:cNvSpPr>
            <a:spLocks xmlns:a="http://schemas.openxmlformats.org/drawingml/2006/main" noGrp="1"/>
          </p:cNvSpPr>
          <p:nvPr/>
        </p:nvSpPr>
        <p:spPr>
          <a:xfrm xmlns:a="http://schemas.openxmlformats.org/drawingml/2006/main">
            <a:off x="6172200" y="2476500"/>
            <a:ext cx="2628900" cy="1219200"/>
          </a:xfrm>
          <a:prstGeom xmlns:a="http://schemas.openxmlformats.org/drawingml/2006/main" prst="roundRect">
            <a:avLst>
              <a:gd name="adj" fmla="val 14063"/>
            </a:avLst>
          </a:prstGeom>
          <a:solidFill xmlns:a="http://schemas.openxmlformats.org/drawingml/2006/main">
            <a:srgbClr val="EEF4F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7B539EB-2202-4EAB-AF18-6E0E894EF546}"/>
              </a:ext>
            </a:extLst>
          </p:cNvPr>
          <p:cNvSpPr>
            <a:spLocks xmlns:a="http://schemas.openxmlformats.org/drawingml/2006/main" noGrp="1"/>
          </p:cNvSpPr>
          <p:nvPr/>
        </p:nvSpPr>
        <p:spPr>
          <a:xfrm xmlns:a="http://schemas.openxmlformats.org/drawingml/2006/main">
            <a:off x="6172200" y="2476500"/>
            <a:ext cx="95250" cy="1219200"/>
          </a:xfrm>
          <a:prstGeom xmlns:a="http://schemas.openxmlformats.org/drawingml/2006/main" prst="rect">
            <a:avLst/>
          </a:prstGeom>
          <a:solidFill xmlns:a="http://schemas.openxmlformats.org/drawingml/2006/main">
            <a:srgbClr val="8051B8"/>
          </a:solidFill>
          <a:ln xmlns:a="http://schemas.openxmlformats.org/drawingml/2006/main" w="0">
            <a:noFill/>
            <a:prstDash val="solid"/>
          </a:ln>
        </p:spPr>
      </p:sp>
      <p:sp>
        <p:nvSpPr>
          <p:cNvPr id="17" name="5,17">
            <a:extLst xmlns:a="http://schemas.openxmlformats.org/drawingml/2006/main">
              <a:ext uri="{FF2B5EF4-FFF2-40B4-BE49-F238E27FC236}">
                <a16:creationId xmlns:a16="http://schemas.microsoft.com/office/drawing/2014/main" id="{264CD327-7F33-4BFB-BAB1-B8E34F1A0B95}"/>
              </a:ext>
            </a:extLst>
          </p:cNvPr>
          <p:cNvSpPr>
            <a:spLocks xmlns:a="http://schemas.openxmlformats.org/drawingml/2006/main" noGrp="1"/>
          </p:cNvSpPr>
          <p:nvPr/>
        </p:nvSpPr>
        <p:spPr>
          <a:xfrm xmlns:a="http://schemas.openxmlformats.org/drawingml/2006/main">
            <a:off x="6400800" y="260985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8051B8"/>
                </a:solidFill>
                <a:latin typeface="Arial"/>
                <a:ea typeface="Arial"/>
                <a:cs typeface="Arial"/>
              </a:defRPr>
            </a:defPPr>
            <a:lvl1pPr algn="l">
              <a:defRPr b="1">
                <a:solidFill>
                  <a:srgbClr val="8051B8"/>
                </a:solidFill>
                <a:latin typeface="Arial"/>
                <a:ea typeface="Arial"/>
                <a:cs typeface="Arial"/>
              </a:defRPr>
            </a:lvl1pPr>
            <a:lvl2pPr algn="l">
              <a:defRPr b="1">
                <a:solidFill>
                  <a:srgbClr val="8051B8"/>
                </a:solidFill>
                <a:latin typeface="Arial"/>
                <a:ea typeface="Arial"/>
                <a:cs typeface="Arial"/>
              </a:defRPr>
            </a:lvl2pPr>
            <a:lvl3pPr algn="l">
              <a:defRPr b="1">
                <a:solidFill>
                  <a:srgbClr val="8051B8"/>
                </a:solidFill>
                <a:latin typeface="Arial"/>
                <a:ea typeface="Arial"/>
                <a:cs typeface="Arial"/>
              </a:defRPr>
            </a:lvl3pPr>
            <a:lvl4pPr algn="l">
              <a:defRPr b="1">
                <a:solidFill>
                  <a:srgbClr val="8051B8"/>
                </a:solidFill>
                <a:latin typeface="Arial"/>
                <a:ea typeface="Arial"/>
                <a:cs typeface="Arial"/>
              </a:defRPr>
            </a:lvl4pPr>
            <a:lvl5pPr algn="l">
              <a:defRPr b="1">
                <a:solidFill>
                  <a:srgbClr val="8051B8"/>
                </a:solidFill>
                <a:latin typeface="Arial"/>
                <a:ea typeface="Arial"/>
                <a:cs typeface="Arial"/>
              </a:defRPr>
            </a:lvl5pPr>
            <a:lvl6pPr algn="l">
              <a:defRPr b="1">
                <a:solidFill>
                  <a:srgbClr val="8051B8"/>
                </a:solidFill>
                <a:latin typeface="Arial"/>
                <a:ea typeface="Arial"/>
                <a:cs typeface="Arial"/>
              </a:defRPr>
            </a:lvl6pPr>
            <a:lvl7pPr algn="l">
              <a:defRPr b="1">
                <a:solidFill>
                  <a:srgbClr val="8051B8"/>
                </a:solidFill>
                <a:latin typeface="Arial"/>
                <a:ea typeface="Arial"/>
                <a:cs typeface="Arial"/>
              </a:defRPr>
            </a:lvl7pPr>
            <a:lvl8pPr algn="l">
              <a:defRPr b="1">
                <a:solidFill>
                  <a:srgbClr val="8051B8"/>
                </a:solidFill>
                <a:latin typeface="Arial"/>
                <a:ea typeface="Arial"/>
                <a:cs typeface="Arial"/>
              </a:defRPr>
            </a:lvl8pPr>
            <a:lvl9pPr algn="l">
              <a:defRPr b="1">
                <a:solidFill>
                  <a:srgbClr val="8051B8"/>
                </a:solidFill>
                <a:latin typeface="Arial"/>
                <a:ea typeface="Arial"/>
                <a:cs typeface="Arial"/>
              </a:defRPr>
            </a:lvl9pPr>
          </a:lstStyle>
          <a:p xmlns:a="http://schemas.openxmlformats.org/drawingml/2006/main">
            <a:pPr algn="l">
              <a:defRPr b="1">
                <a:solidFill>
                  <a:srgbClr val="8051B8"/>
                </a:solidFill>
                <a:latin typeface="Arial"/>
                <a:ea typeface="Arial"/>
                <a:cs typeface="Arial"/>
              </a:defRPr>
            </a:pPr>
            <a:r>
              <a:rPr b="1">
                <a:solidFill>
                  <a:srgbClr val="8051B8"/>
                </a:solidFill>
                <a:latin typeface="Arial"/>
                <a:ea typeface="Arial"/>
                <a:cs typeface="Arial"/>
              </a:rPr>
              <a:t>5,17</a:t>
            </a:r>
          </a:p>
        </p:txBody>
      </p:sp>
      <p:sp>
        <p:nvSpPr>
          <p:cNvPr id="18" name="TỶ VND  •  LỢI NHUẬN GỘP">
            <a:extLst xmlns:a="http://schemas.openxmlformats.org/drawingml/2006/main">
              <a:ext uri="{FF2B5EF4-FFF2-40B4-BE49-F238E27FC236}">
                <a16:creationId xmlns:a16="http://schemas.microsoft.com/office/drawing/2014/main" id="{43DA1742-0044-4950-A61A-8DB6FE3D54E0}"/>
              </a:ext>
            </a:extLst>
          </p:cNvPr>
          <p:cNvSpPr>
            <a:spLocks xmlns:a="http://schemas.openxmlformats.org/drawingml/2006/main" noGrp="1"/>
          </p:cNvSpPr>
          <p:nvPr/>
        </p:nvSpPr>
        <p:spPr>
          <a:xfrm xmlns:a="http://schemas.openxmlformats.org/drawingml/2006/main">
            <a:off x="6400800" y="3181350"/>
            <a:ext cx="222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6389"/>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TỶ VND  •  LỢI NHUẬN GỘP</a:t>
            </a:r>
          </a:p>
        </p:txBody>
      </p:sp>
      <p:sp>
        <p:nvSpPr>
          <p:cNvPr id="19" name="">
            <a:extLst xmlns:a="http://schemas.openxmlformats.org/drawingml/2006/main">
              <a:ext uri="{FF2B5EF4-FFF2-40B4-BE49-F238E27FC236}">
                <a16:creationId xmlns:a16="http://schemas.microsoft.com/office/drawing/2014/main" id="{258AF297-FA8C-4D75-A8CF-7FAB1D8A685F}"/>
              </a:ext>
            </a:extLst>
          </p:cNvPr>
          <p:cNvSpPr>
            <a:spLocks xmlns:a="http://schemas.openxmlformats.org/drawingml/2006/main" noGrp="1"/>
          </p:cNvSpPr>
          <p:nvPr/>
        </p:nvSpPr>
        <p:spPr>
          <a:xfrm xmlns:a="http://schemas.openxmlformats.org/drawingml/2006/main">
            <a:off x="8991600" y="2476500"/>
            <a:ext cx="2628900" cy="1219200"/>
          </a:xfrm>
          <a:prstGeom xmlns:a="http://schemas.openxmlformats.org/drawingml/2006/main" prst="roundRect">
            <a:avLst>
              <a:gd name="adj" fmla="val 14063"/>
            </a:avLst>
          </a:prstGeom>
          <a:solidFill xmlns:a="http://schemas.openxmlformats.org/drawingml/2006/main">
            <a:srgbClr val="EEF4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696CF6C-34E1-46C5-A959-D80947B88779}"/>
              </a:ext>
            </a:extLst>
          </p:cNvPr>
          <p:cNvSpPr>
            <a:spLocks xmlns:a="http://schemas.openxmlformats.org/drawingml/2006/main" noGrp="1"/>
          </p:cNvSpPr>
          <p:nvPr/>
        </p:nvSpPr>
        <p:spPr>
          <a:xfrm xmlns:a="http://schemas.openxmlformats.org/drawingml/2006/main">
            <a:off x="8991600" y="2476500"/>
            <a:ext cx="95250" cy="1219200"/>
          </a:xfrm>
          <a:prstGeom xmlns:a="http://schemas.openxmlformats.org/drawingml/2006/main" prst="rect">
            <a:avLst/>
          </a:prstGeom>
          <a:solidFill xmlns:a="http://schemas.openxmlformats.org/drawingml/2006/main">
            <a:srgbClr val="E5902F"/>
          </a:solidFill>
          <a:ln xmlns:a="http://schemas.openxmlformats.org/drawingml/2006/main" w="0">
            <a:noFill/>
            <a:prstDash val="solid"/>
          </a:ln>
        </p:spPr>
      </p:sp>
      <p:sp>
        <p:nvSpPr>
          <p:cNvPr id="21" name="2,89">
            <a:extLst xmlns:a="http://schemas.openxmlformats.org/drawingml/2006/main">
              <a:ext uri="{FF2B5EF4-FFF2-40B4-BE49-F238E27FC236}">
                <a16:creationId xmlns:a16="http://schemas.microsoft.com/office/drawing/2014/main" id="{201FDB2E-EAF2-404E-B6C6-E326CABB9F02}"/>
              </a:ext>
            </a:extLst>
          </p:cNvPr>
          <p:cNvSpPr>
            <a:spLocks xmlns:a="http://schemas.openxmlformats.org/drawingml/2006/main" noGrp="1"/>
          </p:cNvSpPr>
          <p:nvPr/>
        </p:nvSpPr>
        <p:spPr>
          <a:xfrm xmlns:a="http://schemas.openxmlformats.org/drawingml/2006/main">
            <a:off x="9220200" y="260985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E5902F"/>
                </a:solidFill>
                <a:latin typeface="Arial"/>
                <a:ea typeface="Arial"/>
                <a:cs typeface="Arial"/>
              </a:defRPr>
            </a:defPPr>
            <a:lvl1pPr algn="l">
              <a:defRPr b="1">
                <a:solidFill>
                  <a:srgbClr val="E5902F"/>
                </a:solidFill>
                <a:latin typeface="Arial"/>
                <a:ea typeface="Arial"/>
                <a:cs typeface="Arial"/>
              </a:defRPr>
            </a:lvl1pPr>
            <a:lvl2pPr algn="l">
              <a:defRPr b="1">
                <a:solidFill>
                  <a:srgbClr val="E5902F"/>
                </a:solidFill>
                <a:latin typeface="Arial"/>
                <a:ea typeface="Arial"/>
                <a:cs typeface="Arial"/>
              </a:defRPr>
            </a:lvl2pPr>
            <a:lvl3pPr algn="l">
              <a:defRPr b="1">
                <a:solidFill>
                  <a:srgbClr val="E5902F"/>
                </a:solidFill>
                <a:latin typeface="Arial"/>
                <a:ea typeface="Arial"/>
                <a:cs typeface="Arial"/>
              </a:defRPr>
            </a:lvl3pPr>
            <a:lvl4pPr algn="l">
              <a:defRPr b="1">
                <a:solidFill>
                  <a:srgbClr val="E5902F"/>
                </a:solidFill>
                <a:latin typeface="Arial"/>
                <a:ea typeface="Arial"/>
                <a:cs typeface="Arial"/>
              </a:defRPr>
            </a:lvl4pPr>
            <a:lvl5pPr algn="l">
              <a:defRPr b="1">
                <a:solidFill>
                  <a:srgbClr val="E5902F"/>
                </a:solidFill>
                <a:latin typeface="Arial"/>
                <a:ea typeface="Arial"/>
                <a:cs typeface="Arial"/>
              </a:defRPr>
            </a:lvl5pPr>
            <a:lvl6pPr algn="l">
              <a:defRPr b="1">
                <a:solidFill>
                  <a:srgbClr val="E5902F"/>
                </a:solidFill>
                <a:latin typeface="Arial"/>
                <a:ea typeface="Arial"/>
                <a:cs typeface="Arial"/>
              </a:defRPr>
            </a:lvl6pPr>
            <a:lvl7pPr algn="l">
              <a:defRPr b="1">
                <a:solidFill>
                  <a:srgbClr val="E5902F"/>
                </a:solidFill>
                <a:latin typeface="Arial"/>
                <a:ea typeface="Arial"/>
                <a:cs typeface="Arial"/>
              </a:defRPr>
            </a:lvl7pPr>
            <a:lvl8pPr algn="l">
              <a:defRPr b="1">
                <a:solidFill>
                  <a:srgbClr val="E5902F"/>
                </a:solidFill>
                <a:latin typeface="Arial"/>
                <a:ea typeface="Arial"/>
                <a:cs typeface="Arial"/>
              </a:defRPr>
            </a:lvl8pPr>
            <a:lvl9pPr algn="l">
              <a:defRPr b="1">
                <a:solidFill>
                  <a:srgbClr val="E5902F"/>
                </a:solidFill>
                <a:latin typeface="Arial"/>
                <a:ea typeface="Arial"/>
                <a:cs typeface="Arial"/>
              </a:defRPr>
            </a:lvl9pPr>
          </a:lstStyle>
          <a:p xmlns:a="http://schemas.openxmlformats.org/drawingml/2006/main">
            <a:pPr algn="l">
              <a:defRPr b="1">
                <a:solidFill>
                  <a:srgbClr val="E5902F"/>
                </a:solidFill>
                <a:latin typeface="Arial"/>
                <a:ea typeface="Arial"/>
                <a:cs typeface="Arial"/>
              </a:defRPr>
            </a:pPr>
            <a:r>
              <a:rPr b="1">
                <a:solidFill>
                  <a:srgbClr val="E5902F"/>
                </a:solidFill>
                <a:latin typeface="Arial"/>
                <a:ea typeface="Arial"/>
                <a:cs typeface="Arial"/>
              </a:rPr>
              <a:t>2,89</a:t>
            </a:r>
          </a:p>
        </p:txBody>
      </p:sp>
      <p:sp>
        <p:nvSpPr>
          <p:cNvPr id="22" name="TỶ VND  •  LỢI NHUẬN SAU THU">
            <a:extLst xmlns:a="http://schemas.openxmlformats.org/drawingml/2006/main">
              <a:ext uri="{FF2B5EF4-FFF2-40B4-BE49-F238E27FC236}">
                <a16:creationId xmlns:a16="http://schemas.microsoft.com/office/drawing/2014/main" id="{B74B8087-919E-4032-A185-8EFFA1A39967}"/>
              </a:ext>
            </a:extLst>
          </p:cNvPr>
          <p:cNvSpPr>
            <a:spLocks xmlns:a="http://schemas.openxmlformats.org/drawingml/2006/main" noGrp="1"/>
          </p:cNvSpPr>
          <p:nvPr/>
        </p:nvSpPr>
        <p:spPr>
          <a:xfrm xmlns:a="http://schemas.openxmlformats.org/drawingml/2006/main">
            <a:off x="9220200" y="3181350"/>
            <a:ext cx="2228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6389"/>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TỶ VND  •  LỢI NHUẬN SAU THUẾ</a:t>
            </a:r>
          </a:p>
        </p:txBody>
      </p:sp>
      <p:sp>
        <p:nvSpPr>
          <p:cNvPr id="23" name="Doanh thu thuần theo tháng (">
            <a:extLst xmlns:a="http://schemas.openxmlformats.org/drawingml/2006/main">
              <a:ext uri="{FF2B5EF4-FFF2-40B4-BE49-F238E27FC236}">
                <a16:creationId xmlns:a16="http://schemas.microsoft.com/office/drawing/2014/main" id="{45F4176C-4F0D-45F9-B666-B58804ACB5E3}"/>
              </a:ext>
            </a:extLst>
          </p:cNvPr>
          <p:cNvSpPr>
            <a:spLocks xmlns:a="http://schemas.openxmlformats.org/drawingml/2006/main" noGrp="1"/>
          </p:cNvSpPr>
          <p:nvPr/>
        </p:nvSpPr>
        <p:spPr>
          <a:xfrm xmlns:a="http://schemas.openxmlformats.org/drawingml/2006/main">
            <a:off x="533400" y="3981450"/>
            <a:ext cx="1112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Doanh thu thuần theo tháng (tỷ VND)</a:t>
            </a:r>
          </a:p>
        </p:txBody>
      </p:sp>
      <p:graphicFrame>
        <p:nvGraphicFramePr>
          <p:cNvPr id="24" name="Chart">
            <a:extLst xmlns:a="http://schemas.openxmlformats.org/drawingml/2006/main">
              <a:ext uri="{FF2B5EF4-FFF2-40B4-BE49-F238E27FC236}">
                <a16:creationId xmlns:a16="http://schemas.microsoft.com/office/drawing/2014/main" id="{481BC8C4-1518-4D99-9F06-96AE105667EA}"/>
              </a:ext>
            </a:extLst>
          </p:cNvPr>
          <p:cNvGraphicFramePr/>
          <p:nvPr/>
        </p:nvGraphicFramePr>
        <p:xfrm>
          <a:off xmlns:a="http://schemas.openxmlformats.org/drawingml/2006/main" x="685800" y="4476750"/>
          <a:ext xmlns:a="http://schemas.openxmlformats.org/drawingml/2006/main" cx="10820400" cy="1666875"/>
        </p:xfrm>
        <a:graphic xmlns:a="http://schemas.openxmlformats.org/drawingml/2006/main">
          <a:graphicData uri="http://schemas.openxmlformats.org/drawingml/2006/chart">
            <c:chart xmlns:r="http://schemas.openxmlformats.org/officeDocument/2006/relationships" xmlns:c="http://schemas.openxmlformats.org/drawingml/2006/chart" r:id="R68badae56286401a"/>
          </a:graphicData>
        </a:graphic>
      </p:graphicFrame>
      <p:sp>
        <p:nvSpPr>
          <p:cNvPr id="25" name="7,28">
            <a:extLst xmlns:a="http://schemas.openxmlformats.org/drawingml/2006/main">
              <a:ext uri="{FF2B5EF4-FFF2-40B4-BE49-F238E27FC236}">
                <a16:creationId xmlns:a16="http://schemas.microsoft.com/office/drawing/2014/main" id="{39572523-E95D-4C1D-AC1A-6E28F2257973}"/>
              </a:ext>
            </a:extLst>
          </p:cNvPr>
          <p:cNvSpPr>
            <a:spLocks xmlns:a="http://schemas.openxmlformats.org/drawingml/2006/main" noGrp="1"/>
          </p:cNvSpPr>
          <p:nvPr/>
        </p:nvSpPr>
        <p:spPr>
          <a:xfrm xmlns:a="http://schemas.openxmlformats.org/drawingml/2006/main">
            <a:off x="1514475" y="4895850"/>
            <a:ext cx="895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23A72"/>
                </a:solidFill>
                <a:latin typeface="Arial"/>
                <a:ea typeface="Arial"/>
                <a:cs typeface="Arial"/>
              </a:defRPr>
            </a:defPPr>
            <a:lvl1pPr algn="ctr">
              <a:defRPr b="1">
                <a:solidFill>
                  <a:srgbClr val="123A72"/>
                </a:solidFill>
                <a:latin typeface="Arial"/>
                <a:ea typeface="Arial"/>
                <a:cs typeface="Arial"/>
              </a:defRPr>
            </a:lvl1pPr>
            <a:lvl2pPr algn="ctr">
              <a:defRPr b="1">
                <a:solidFill>
                  <a:srgbClr val="123A72"/>
                </a:solidFill>
                <a:latin typeface="Arial"/>
                <a:ea typeface="Arial"/>
                <a:cs typeface="Arial"/>
              </a:defRPr>
            </a:lvl2pPr>
            <a:lvl3pPr algn="ctr">
              <a:defRPr b="1">
                <a:solidFill>
                  <a:srgbClr val="123A72"/>
                </a:solidFill>
                <a:latin typeface="Arial"/>
                <a:ea typeface="Arial"/>
                <a:cs typeface="Arial"/>
              </a:defRPr>
            </a:lvl3pPr>
            <a:lvl4pPr algn="ctr">
              <a:defRPr b="1">
                <a:solidFill>
                  <a:srgbClr val="123A72"/>
                </a:solidFill>
                <a:latin typeface="Arial"/>
                <a:ea typeface="Arial"/>
                <a:cs typeface="Arial"/>
              </a:defRPr>
            </a:lvl4pPr>
            <a:lvl5pPr algn="ctr">
              <a:defRPr b="1">
                <a:solidFill>
                  <a:srgbClr val="123A72"/>
                </a:solidFill>
                <a:latin typeface="Arial"/>
                <a:ea typeface="Arial"/>
                <a:cs typeface="Arial"/>
              </a:defRPr>
            </a:lvl5pPr>
            <a:lvl6pPr algn="ctr">
              <a:defRPr b="1">
                <a:solidFill>
                  <a:srgbClr val="123A72"/>
                </a:solidFill>
                <a:latin typeface="Arial"/>
                <a:ea typeface="Arial"/>
                <a:cs typeface="Arial"/>
              </a:defRPr>
            </a:lvl6pPr>
            <a:lvl7pPr algn="ctr">
              <a:defRPr b="1">
                <a:solidFill>
                  <a:srgbClr val="123A72"/>
                </a:solidFill>
                <a:latin typeface="Arial"/>
                <a:ea typeface="Arial"/>
                <a:cs typeface="Arial"/>
              </a:defRPr>
            </a:lvl7pPr>
            <a:lvl8pPr algn="ctr">
              <a:defRPr b="1">
                <a:solidFill>
                  <a:srgbClr val="123A72"/>
                </a:solidFill>
                <a:latin typeface="Arial"/>
                <a:ea typeface="Arial"/>
                <a:cs typeface="Arial"/>
              </a:defRPr>
            </a:lvl8pPr>
            <a:lvl9pPr algn="ctr">
              <a:defRPr b="1">
                <a:solidFill>
                  <a:srgbClr val="123A72"/>
                </a:solidFill>
                <a:latin typeface="Arial"/>
                <a:ea typeface="Arial"/>
                <a:cs typeface="Arial"/>
              </a:defRPr>
            </a:lvl9pPr>
          </a:lstStyle>
          <a:p xmlns:a="http://schemas.openxmlformats.org/drawingml/2006/main">
            <a:pPr algn="ctr">
              <a:defRPr b="1">
                <a:solidFill>
                  <a:srgbClr val="123A72"/>
                </a:solidFill>
                <a:latin typeface="Arial"/>
                <a:ea typeface="Arial"/>
                <a:cs typeface="Arial"/>
              </a:defRPr>
            </a:pPr>
            <a:r>
              <a:rPr b="1">
                <a:solidFill>
                  <a:srgbClr val="123A72"/>
                </a:solidFill>
                <a:latin typeface="Arial"/>
                <a:ea typeface="Arial"/>
                <a:cs typeface="Arial"/>
              </a:rPr>
              <a:t>7,28</a:t>
            </a:r>
          </a:p>
        </p:txBody>
      </p:sp>
      <p:sp>
        <p:nvSpPr>
          <p:cNvPr id="26" name="8,01">
            <a:extLst xmlns:a="http://schemas.openxmlformats.org/drawingml/2006/main">
              <a:ext uri="{FF2B5EF4-FFF2-40B4-BE49-F238E27FC236}">
                <a16:creationId xmlns:a16="http://schemas.microsoft.com/office/drawing/2014/main" id="{753EA862-8DAD-499C-B3FF-F448280B62B9}"/>
              </a:ext>
            </a:extLst>
          </p:cNvPr>
          <p:cNvSpPr>
            <a:spLocks xmlns:a="http://schemas.openxmlformats.org/drawingml/2006/main" noGrp="1"/>
          </p:cNvSpPr>
          <p:nvPr/>
        </p:nvSpPr>
        <p:spPr>
          <a:xfrm xmlns:a="http://schemas.openxmlformats.org/drawingml/2006/main">
            <a:off x="3581400" y="4829175"/>
            <a:ext cx="895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23A72"/>
                </a:solidFill>
                <a:latin typeface="Arial"/>
                <a:ea typeface="Arial"/>
                <a:cs typeface="Arial"/>
              </a:defRPr>
            </a:defPPr>
            <a:lvl1pPr algn="ctr">
              <a:defRPr b="1">
                <a:solidFill>
                  <a:srgbClr val="123A72"/>
                </a:solidFill>
                <a:latin typeface="Arial"/>
                <a:ea typeface="Arial"/>
                <a:cs typeface="Arial"/>
              </a:defRPr>
            </a:lvl1pPr>
            <a:lvl2pPr algn="ctr">
              <a:defRPr b="1">
                <a:solidFill>
                  <a:srgbClr val="123A72"/>
                </a:solidFill>
                <a:latin typeface="Arial"/>
                <a:ea typeface="Arial"/>
                <a:cs typeface="Arial"/>
              </a:defRPr>
            </a:lvl2pPr>
            <a:lvl3pPr algn="ctr">
              <a:defRPr b="1">
                <a:solidFill>
                  <a:srgbClr val="123A72"/>
                </a:solidFill>
                <a:latin typeface="Arial"/>
                <a:ea typeface="Arial"/>
                <a:cs typeface="Arial"/>
              </a:defRPr>
            </a:lvl3pPr>
            <a:lvl4pPr algn="ctr">
              <a:defRPr b="1">
                <a:solidFill>
                  <a:srgbClr val="123A72"/>
                </a:solidFill>
                <a:latin typeface="Arial"/>
                <a:ea typeface="Arial"/>
                <a:cs typeface="Arial"/>
              </a:defRPr>
            </a:lvl4pPr>
            <a:lvl5pPr algn="ctr">
              <a:defRPr b="1">
                <a:solidFill>
                  <a:srgbClr val="123A72"/>
                </a:solidFill>
                <a:latin typeface="Arial"/>
                <a:ea typeface="Arial"/>
                <a:cs typeface="Arial"/>
              </a:defRPr>
            </a:lvl5pPr>
            <a:lvl6pPr algn="ctr">
              <a:defRPr b="1">
                <a:solidFill>
                  <a:srgbClr val="123A72"/>
                </a:solidFill>
                <a:latin typeface="Arial"/>
                <a:ea typeface="Arial"/>
                <a:cs typeface="Arial"/>
              </a:defRPr>
            </a:lvl6pPr>
            <a:lvl7pPr algn="ctr">
              <a:defRPr b="1">
                <a:solidFill>
                  <a:srgbClr val="123A72"/>
                </a:solidFill>
                <a:latin typeface="Arial"/>
                <a:ea typeface="Arial"/>
                <a:cs typeface="Arial"/>
              </a:defRPr>
            </a:lvl7pPr>
            <a:lvl8pPr algn="ctr">
              <a:defRPr b="1">
                <a:solidFill>
                  <a:srgbClr val="123A72"/>
                </a:solidFill>
                <a:latin typeface="Arial"/>
                <a:ea typeface="Arial"/>
                <a:cs typeface="Arial"/>
              </a:defRPr>
            </a:lvl8pPr>
            <a:lvl9pPr algn="ctr">
              <a:defRPr b="1">
                <a:solidFill>
                  <a:srgbClr val="123A72"/>
                </a:solidFill>
                <a:latin typeface="Arial"/>
                <a:ea typeface="Arial"/>
                <a:cs typeface="Arial"/>
              </a:defRPr>
            </a:lvl9pPr>
          </a:lstStyle>
          <a:p xmlns:a="http://schemas.openxmlformats.org/drawingml/2006/main">
            <a:pPr algn="ctr">
              <a:defRPr b="1">
                <a:solidFill>
                  <a:srgbClr val="123A72"/>
                </a:solidFill>
                <a:latin typeface="Arial"/>
                <a:ea typeface="Arial"/>
                <a:cs typeface="Arial"/>
              </a:defRPr>
            </a:pPr>
            <a:r>
              <a:rPr b="1">
                <a:solidFill>
                  <a:srgbClr val="123A72"/>
                </a:solidFill>
                <a:latin typeface="Arial"/>
                <a:ea typeface="Arial"/>
                <a:cs typeface="Arial"/>
              </a:rPr>
              <a:t>8,01</a:t>
            </a:r>
          </a:p>
        </p:txBody>
      </p:sp>
      <p:sp>
        <p:nvSpPr>
          <p:cNvPr id="27" name="9,36">
            <a:extLst xmlns:a="http://schemas.openxmlformats.org/drawingml/2006/main">
              <a:ext uri="{FF2B5EF4-FFF2-40B4-BE49-F238E27FC236}">
                <a16:creationId xmlns:a16="http://schemas.microsoft.com/office/drawing/2014/main" id="{038AC1B7-D42F-4EFA-A185-63E24FC79D0E}"/>
              </a:ext>
            </a:extLst>
          </p:cNvPr>
          <p:cNvSpPr>
            <a:spLocks xmlns:a="http://schemas.openxmlformats.org/drawingml/2006/main" noGrp="1"/>
          </p:cNvSpPr>
          <p:nvPr/>
        </p:nvSpPr>
        <p:spPr>
          <a:xfrm xmlns:a="http://schemas.openxmlformats.org/drawingml/2006/main">
            <a:off x="5648325" y="4686300"/>
            <a:ext cx="895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23A72"/>
                </a:solidFill>
                <a:latin typeface="Arial"/>
                <a:ea typeface="Arial"/>
                <a:cs typeface="Arial"/>
              </a:defRPr>
            </a:defPPr>
            <a:lvl1pPr algn="ctr">
              <a:defRPr b="1">
                <a:solidFill>
                  <a:srgbClr val="123A72"/>
                </a:solidFill>
                <a:latin typeface="Arial"/>
                <a:ea typeface="Arial"/>
                <a:cs typeface="Arial"/>
              </a:defRPr>
            </a:lvl1pPr>
            <a:lvl2pPr algn="ctr">
              <a:defRPr b="1">
                <a:solidFill>
                  <a:srgbClr val="123A72"/>
                </a:solidFill>
                <a:latin typeface="Arial"/>
                <a:ea typeface="Arial"/>
                <a:cs typeface="Arial"/>
              </a:defRPr>
            </a:lvl2pPr>
            <a:lvl3pPr algn="ctr">
              <a:defRPr b="1">
                <a:solidFill>
                  <a:srgbClr val="123A72"/>
                </a:solidFill>
                <a:latin typeface="Arial"/>
                <a:ea typeface="Arial"/>
                <a:cs typeface="Arial"/>
              </a:defRPr>
            </a:lvl3pPr>
            <a:lvl4pPr algn="ctr">
              <a:defRPr b="1">
                <a:solidFill>
                  <a:srgbClr val="123A72"/>
                </a:solidFill>
                <a:latin typeface="Arial"/>
                <a:ea typeface="Arial"/>
                <a:cs typeface="Arial"/>
              </a:defRPr>
            </a:lvl4pPr>
            <a:lvl5pPr algn="ctr">
              <a:defRPr b="1">
                <a:solidFill>
                  <a:srgbClr val="123A72"/>
                </a:solidFill>
                <a:latin typeface="Arial"/>
                <a:ea typeface="Arial"/>
                <a:cs typeface="Arial"/>
              </a:defRPr>
            </a:lvl5pPr>
            <a:lvl6pPr algn="ctr">
              <a:defRPr b="1">
                <a:solidFill>
                  <a:srgbClr val="123A72"/>
                </a:solidFill>
                <a:latin typeface="Arial"/>
                <a:ea typeface="Arial"/>
                <a:cs typeface="Arial"/>
              </a:defRPr>
            </a:lvl6pPr>
            <a:lvl7pPr algn="ctr">
              <a:defRPr b="1">
                <a:solidFill>
                  <a:srgbClr val="123A72"/>
                </a:solidFill>
                <a:latin typeface="Arial"/>
                <a:ea typeface="Arial"/>
                <a:cs typeface="Arial"/>
              </a:defRPr>
            </a:lvl7pPr>
            <a:lvl8pPr algn="ctr">
              <a:defRPr b="1">
                <a:solidFill>
                  <a:srgbClr val="123A72"/>
                </a:solidFill>
                <a:latin typeface="Arial"/>
                <a:ea typeface="Arial"/>
                <a:cs typeface="Arial"/>
              </a:defRPr>
            </a:lvl8pPr>
            <a:lvl9pPr algn="ctr">
              <a:defRPr b="1">
                <a:solidFill>
                  <a:srgbClr val="123A72"/>
                </a:solidFill>
                <a:latin typeface="Arial"/>
                <a:ea typeface="Arial"/>
                <a:cs typeface="Arial"/>
              </a:defRPr>
            </a:lvl9pPr>
          </a:lstStyle>
          <a:p xmlns:a="http://schemas.openxmlformats.org/drawingml/2006/main">
            <a:pPr algn="ctr">
              <a:defRPr b="1">
                <a:solidFill>
                  <a:srgbClr val="123A72"/>
                </a:solidFill>
                <a:latin typeface="Arial"/>
                <a:ea typeface="Arial"/>
                <a:cs typeface="Arial"/>
              </a:defRPr>
            </a:pPr>
            <a:r>
              <a:rPr b="1">
                <a:solidFill>
                  <a:srgbClr val="123A72"/>
                </a:solidFill>
                <a:latin typeface="Arial"/>
                <a:ea typeface="Arial"/>
                <a:cs typeface="Arial"/>
              </a:rPr>
              <a:t>9,36</a:t>
            </a:r>
          </a:p>
        </p:txBody>
      </p:sp>
      <p:sp>
        <p:nvSpPr>
          <p:cNvPr id="28" name="10,50">
            <a:extLst xmlns:a="http://schemas.openxmlformats.org/drawingml/2006/main">
              <a:ext uri="{FF2B5EF4-FFF2-40B4-BE49-F238E27FC236}">
                <a16:creationId xmlns:a16="http://schemas.microsoft.com/office/drawing/2014/main" id="{D055F232-ABFF-461E-83DD-8DFD82DD48B3}"/>
              </a:ext>
            </a:extLst>
          </p:cNvPr>
          <p:cNvSpPr>
            <a:spLocks xmlns:a="http://schemas.openxmlformats.org/drawingml/2006/main" noGrp="1"/>
          </p:cNvSpPr>
          <p:nvPr/>
        </p:nvSpPr>
        <p:spPr>
          <a:xfrm xmlns:a="http://schemas.openxmlformats.org/drawingml/2006/main">
            <a:off x="7734300" y="4410075"/>
            <a:ext cx="895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23A72"/>
                </a:solidFill>
                <a:latin typeface="Arial"/>
                <a:ea typeface="Arial"/>
                <a:cs typeface="Arial"/>
              </a:defRPr>
            </a:defPPr>
            <a:lvl1pPr algn="ctr">
              <a:defRPr b="1">
                <a:solidFill>
                  <a:srgbClr val="123A72"/>
                </a:solidFill>
                <a:latin typeface="Arial"/>
                <a:ea typeface="Arial"/>
                <a:cs typeface="Arial"/>
              </a:defRPr>
            </a:lvl1pPr>
            <a:lvl2pPr algn="ctr">
              <a:defRPr b="1">
                <a:solidFill>
                  <a:srgbClr val="123A72"/>
                </a:solidFill>
                <a:latin typeface="Arial"/>
                <a:ea typeface="Arial"/>
                <a:cs typeface="Arial"/>
              </a:defRPr>
            </a:lvl2pPr>
            <a:lvl3pPr algn="ctr">
              <a:defRPr b="1">
                <a:solidFill>
                  <a:srgbClr val="123A72"/>
                </a:solidFill>
                <a:latin typeface="Arial"/>
                <a:ea typeface="Arial"/>
                <a:cs typeface="Arial"/>
              </a:defRPr>
            </a:lvl3pPr>
            <a:lvl4pPr algn="ctr">
              <a:defRPr b="1">
                <a:solidFill>
                  <a:srgbClr val="123A72"/>
                </a:solidFill>
                <a:latin typeface="Arial"/>
                <a:ea typeface="Arial"/>
                <a:cs typeface="Arial"/>
              </a:defRPr>
            </a:lvl4pPr>
            <a:lvl5pPr algn="ctr">
              <a:defRPr b="1">
                <a:solidFill>
                  <a:srgbClr val="123A72"/>
                </a:solidFill>
                <a:latin typeface="Arial"/>
                <a:ea typeface="Arial"/>
                <a:cs typeface="Arial"/>
              </a:defRPr>
            </a:lvl5pPr>
            <a:lvl6pPr algn="ctr">
              <a:defRPr b="1">
                <a:solidFill>
                  <a:srgbClr val="123A72"/>
                </a:solidFill>
                <a:latin typeface="Arial"/>
                <a:ea typeface="Arial"/>
                <a:cs typeface="Arial"/>
              </a:defRPr>
            </a:lvl6pPr>
            <a:lvl7pPr algn="ctr">
              <a:defRPr b="1">
                <a:solidFill>
                  <a:srgbClr val="123A72"/>
                </a:solidFill>
                <a:latin typeface="Arial"/>
                <a:ea typeface="Arial"/>
                <a:cs typeface="Arial"/>
              </a:defRPr>
            </a:lvl7pPr>
            <a:lvl8pPr algn="ctr">
              <a:defRPr b="1">
                <a:solidFill>
                  <a:srgbClr val="123A72"/>
                </a:solidFill>
                <a:latin typeface="Arial"/>
                <a:ea typeface="Arial"/>
                <a:cs typeface="Arial"/>
              </a:defRPr>
            </a:lvl8pPr>
            <a:lvl9pPr algn="ctr">
              <a:defRPr b="1">
                <a:solidFill>
                  <a:srgbClr val="123A72"/>
                </a:solidFill>
                <a:latin typeface="Arial"/>
                <a:ea typeface="Arial"/>
                <a:cs typeface="Arial"/>
              </a:defRPr>
            </a:lvl9pPr>
          </a:lstStyle>
          <a:p xmlns:a="http://schemas.openxmlformats.org/drawingml/2006/main">
            <a:pPr algn="ctr">
              <a:defRPr b="1">
                <a:solidFill>
                  <a:srgbClr val="123A72"/>
                </a:solidFill>
                <a:latin typeface="Arial"/>
                <a:ea typeface="Arial"/>
                <a:cs typeface="Arial"/>
              </a:defRPr>
            </a:pPr>
            <a:r>
              <a:rPr b="1">
                <a:solidFill>
                  <a:srgbClr val="123A72"/>
                </a:solidFill>
                <a:latin typeface="Arial"/>
                <a:ea typeface="Arial"/>
                <a:cs typeface="Arial"/>
              </a:rPr>
              <a:t>10,50</a:t>
            </a:r>
          </a:p>
        </p:txBody>
      </p:sp>
      <p:sp>
        <p:nvSpPr>
          <p:cNvPr id="29" name="12,45">
            <a:extLst xmlns:a="http://schemas.openxmlformats.org/drawingml/2006/main">
              <a:ext uri="{FF2B5EF4-FFF2-40B4-BE49-F238E27FC236}">
                <a16:creationId xmlns:a16="http://schemas.microsoft.com/office/drawing/2014/main" id="{616A2889-FC02-47E9-82CB-52431F76E90D}"/>
              </a:ext>
            </a:extLst>
          </p:cNvPr>
          <p:cNvSpPr>
            <a:spLocks xmlns:a="http://schemas.openxmlformats.org/drawingml/2006/main" noGrp="1"/>
          </p:cNvSpPr>
          <p:nvPr/>
        </p:nvSpPr>
        <p:spPr>
          <a:xfrm xmlns:a="http://schemas.openxmlformats.org/drawingml/2006/main">
            <a:off x="9886950" y="4143375"/>
            <a:ext cx="895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23A72"/>
                </a:solidFill>
                <a:latin typeface="Arial"/>
                <a:ea typeface="Arial"/>
                <a:cs typeface="Arial"/>
              </a:defRPr>
            </a:defPPr>
            <a:lvl1pPr algn="ctr">
              <a:defRPr b="1">
                <a:solidFill>
                  <a:srgbClr val="123A72"/>
                </a:solidFill>
                <a:latin typeface="Arial"/>
                <a:ea typeface="Arial"/>
                <a:cs typeface="Arial"/>
              </a:defRPr>
            </a:lvl1pPr>
            <a:lvl2pPr algn="ctr">
              <a:defRPr b="1">
                <a:solidFill>
                  <a:srgbClr val="123A72"/>
                </a:solidFill>
                <a:latin typeface="Arial"/>
                <a:ea typeface="Arial"/>
                <a:cs typeface="Arial"/>
              </a:defRPr>
            </a:lvl2pPr>
            <a:lvl3pPr algn="ctr">
              <a:defRPr b="1">
                <a:solidFill>
                  <a:srgbClr val="123A72"/>
                </a:solidFill>
                <a:latin typeface="Arial"/>
                <a:ea typeface="Arial"/>
                <a:cs typeface="Arial"/>
              </a:defRPr>
            </a:lvl3pPr>
            <a:lvl4pPr algn="ctr">
              <a:defRPr b="1">
                <a:solidFill>
                  <a:srgbClr val="123A72"/>
                </a:solidFill>
                <a:latin typeface="Arial"/>
                <a:ea typeface="Arial"/>
                <a:cs typeface="Arial"/>
              </a:defRPr>
            </a:lvl4pPr>
            <a:lvl5pPr algn="ctr">
              <a:defRPr b="1">
                <a:solidFill>
                  <a:srgbClr val="123A72"/>
                </a:solidFill>
                <a:latin typeface="Arial"/>
                <a:ea typeface="Arial"/>
                <a:cs typeface="Arial"/>
              </a:defRPr>
            </a:lvl5pPr>
            <a:lvl6pPr algn="ctr">
              <a:defRPr b="1">
                <a:solidFill>
                  <a:srgbClr val="123A72"/>
                </a:solidFill>
                <a:latin typeface="Arial"/>
                <a:ea typeface="Arial"/>
                <a:cs typeface="Arial"/>
              </a:defRPr>
            </a:lvl6pPr>
            <a:lvl7pPr algn="ctr">
              <a:defRPr b="1">
                <a:solidFill>
                  <a:srgbClr val="123A72"/>
                </a:solidFill>
                <a:latin typeface="Arial"/>
                <a:ea typeface="Arial"/>
                <a:cs typeface="Arial"/>
              </a:defRPr>
            </a:lvl7pPr>
            <a:lvl8pPr algn="ctr">
              <a:defRPr b="1">
                <a:solidFill>
                  <a:srgbClr val="123A72"/>
                </a:solidFill>
                <a:latin typeface="Arial"/>
                <a:ea typeface="Arial"/>
                <a:cs typeface="Arial"/>
              </a:defRPr>
            </a:lvl8pPr>
            <a:lvl9pPr algn="ctr">
              <a:defRPr b="1">
                <a:solidFill>
                  <a:srgbClr val="123A72"/>
                </a:solidFill>
                <a:latin typeface="Arial"/>
                <a:ea typeface="Arial"/>
                <a:cs typeface="Arial"/>
              </a:defRPr>
            </a:lvl9pPr>
          </a:lstStyle>
          <a:p xmlns:a="http://schemas.openxmlformats.org/drawingml/2006/main">
            <a:pPr algn="ctr">
              <a:defRPr b="1">
                <a:solidFill>
                  <a:srgbClr val="123A72"/>
                </a:solidFill>
                <a:latin typeface="Arial"/>
                <a:ea typeface="Arial"/>
                <a:cs typeface="Arial"/>
              </a:defRPr>
            </a:pPr>
            <a:r>
              <a:rPr b="1">
                <a:solidFill>
                  <a:srgbClr val="123A72"/>
                </a:solidFill>
                <a:latin typeface="Arial"/>
                <a:ea typeface="Arial"/>
                <a:cs typeface="Arial"/>
              </a:rPr>
              <a:t>12,45</a:t>
            </a:r>
          </a:p>
        </p:txBody>
      </p:sp>
      <p:sp>
        <p:nvSpPr>
          <p:cNvPr id="30" name="T01">
            <a:extLst xmlns:a="http://schemas.openxmlformats.org/drawingml/2006/main">
              <a:ext uri="{FF2B5EF4-FFF2-40B4-BE49-F238E27FC236}">
                <a16:creationId xmlns:a16="http://schemas.microsoft.com/office/drawing/2014/main" id="{4F6D7ABE-4A53-4FDF-8EED-6D35C6A19DDC}"/>
              </a:ext>
            </a:extLst>
          </p:cNvPr>
          <p:cNvSpPr>
            <a:spLocks xmlns:a="http://schemas.openxmlformats.org/drawingml/2006/main" noGrp="1"/>
          </p:cNvSpPr>
          <p:nvPr/>
        </p:nvSpPr>
        <p:spPr>
          <a:xfrm xmlns:a="http://schemas.openxmlformats.org/drawingml/2006/main">
            <a:off x="1219200" y="615315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T01</a:t>
            </a:r>
          </a:p>
        </p:txBody>
      </p:sp>
      <p:sp>
        <p:nvSpPr>
          <p:cNvPr id="31" name="T02">
            <a:extLst xmlns:a="http://schemas.openxmlformats.org/drawingml/2006/main">
              <a:ext uri="{FF2B5EF4-FFF2-40B4-BE49-F238E27FC236}">
                <a16:creationId xmlns:a16="http://schemas.microsoft.com/office/drawing/2014/main" id="{F89CE973-B63E-44A1-9D44-662D44C85219}"/>
              </a:ext>
            </a:extLst>
          </p:cNvPr>
          <p:cNvSpPr>
            <a:spLocks xmlns:a="http://schemas.openxmlformats.org/drawingml/2006/main" noGrp="1"/>
          </p:cNvSpPr>
          <p:nvPr/>
        </p:nvSpPr>
        <p:spPr>
          <a:xfrm xmlns:a="http://schemas.openxmlformats.org/drawingml/2006/main">
            <a:off x="3429000" y="615315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T02</a:t>
            </a:r>
          </a:p>
        </p:txBody>
      </p:sp>
      <p:sp>
        <p:nvSpPr>
          <p:cNvPr id="32" name="T03">
            <a:extLst xmlns:a="http://schemas.openxmlformats.org/drawingml/2006/main">
              <a:ext uri="{FF2B5EF4-FFF2-40B4-BE49-F238E27FC236}">
                <a16:creationId xmlns:a16="http://schemas.microsoft.com/office/drawing/2014/main" id="{5DA505C0-03CC-49B4-AD44-8A8C0290546C}"/>
              </a:ext>
            </a:extLst>
          </p:cNvPr>
          <p:cNvSpPr>
            <a:spLocks xmlns:a="http://schemas.openxmlformats.org/drawingml/2006/main" noGrp="1"/>
          </p:cNvSpPr>
          <p:nvPr/>
        </p:nvSpPr>
        <p:spPr>
          <a:xfrm xmlns:a="http://schemas.openxmlformats.org/drawingml/2006/main">
            <a:off x="5638800" y="615315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T03</a:t>
            </a:r>
          </a:p>
        </p:txBody>
      </p:sp>
      <p:sp>
        <p:nvSpPr>
          <p:cNvPr id="33" name="T04">
            <a:extLst xmlns:a="http://schemas.openxmlformats.org/drawingml/2006/main">
              <a:ext uri="{FF2B5EF4-FFF2-40B4-BE49-F238E27FC236}">
                <a16:creationId xmlns:a16="http://schemas.microsoft.com/office/drawing/2014/main" id="{83175AED-0A7A-4B10-8999-0CE0AE8D8AFC}"/>
              </a:ext>
            </a:extLst>
          </p:cNvPr>
          <p:cNvSpPr>
            <a:spLocks xmlns:a="http://schemas.openxmlformats.org/drawingml/2006/main" noGrp="1"/>
          </p:cNvSpPr>
          <p:nvPr/>
        </p:nvSpPr>
        <p:spPr>
          <a:xfrm xmlns:a="http://schemas.openxmlformats.org/drawingml/2006/main">
            <a:off x="7848600" y="615315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T04</a:t>
            </a:r>
          </a:p>
        </p:txBody>
      </p:sp>
      <p:sp>
        <p:nvSpPr>
          <p:cNvPr id="34" name="T05">
            <a:extLst xmlns:a="http://schemas.openxmlformats.org/drawingml/2006/main">
              <a:ext uri="{FF2B5EF4-FFF2-40B4-BE49-F238E27FC236}">
                <a16:creationId xmlns:a16="http://schemas.microsoft.com/office/drawing/2014/main" id="{6CBE11B8-ECA2-4B55-8F16-F525EE83946C}"/>
              </a:ext>
            </a:extLst>
          </p:cNvPr>
          <p:cNvSpPr>
            <a:spLocks xmlns:a="http://schemas.openxmlformats.org/drawingml/2006/main" noGrp="1"/>
          </p:cNvSpPr>
          <p:nvPr/>
        </p:nvSpPr>
        <p:spPr>
          <a:xfrm xmlns:a="http://schemas.openxmlformats.org/drawingml/2006/main">
            <a:off x="10058400" y="615315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2469C8"/>
                </a:solidFill>
                <a:latin typeface="Arial"/>
                <a:ea typeface="Arial"/>
                <a:cs typeface="Arial"/>
              </a:defRPr>
            </a:defPPr>
            <a:lvl1pPr algn="ctr">
              <a:defRPr b="1">
                <a:solidFill>
                  <a:srgbClr val="2469C8"/>
                </a:solidFill>
                <a:latin typeface="Arial"/>
                <a:ea typeface="Arial"/>
                <a:cs typeface="Arial"/>
              </a:defRPr>
            </a:lvl1pPr>
            <a:lvl2pPr algn="ctr">
              <a:defRPr b="1">
                <a:solidFill>
                  <a:srgbClr val="2469C8"/>
                </a:solidFill>
                <a:latin typeface="Arial"/>
                <a:ea typeface="Arial"/>
                <a:cs typeface="Arial"/>
              </a:defRPr>
            </a:lvl2pPr>
            <a:lvl3pPr algn="ctr">
              <a:defRPr b="1">
                <a:solidFill>
                  <a:srgbClr val="2469C8"/>
                </a:solidFill>
                <a:latin typeface="Arial"/>
                <a:ea typeface="Arial"/>
                <a:cs typeface="Arial"/>
              </a:defRPr>
            </a:lvl3pPr>
            <a:lvl4pPr algn="ctr">
              <a:defRPr b="1">
                <a:solidFill>
                  <a:srgbClr val="2469C8"/>
                </a:solidFill>
                <a:latin typeface="Arial"/>
                <a:ea typeface="Arial"/>
                <a:cs typeface="Arial"/>
              </a:defRPr>
            </a:lvl4pPr>
            <a:lvl5pPr algn="ctr">
              <a:defRPr b="1">
                <a:solidFill>
                  <a:srgbClr val="2469C8"/>
                </a:solidFill>
                <a:latin typeface="Arial"/>
                <a:ea typeface="Arial"/>
                <a:cs typeface="Arial"/>
              </a:defRPr>
            </a:lvl5pPr>
            <a:lvl6pPr algn="ctr">
              <a:defRPr b="1">
                <a:solidFill>
                  <a:srgbClr val="2469C8"/>
                </a:solidFill>
                <a:latin typeface="Arial"/>
                <a:ea typeface="Arial"/>
                <a:cs typeface="Arial"/>
              </a:defRPr>
            </a:lvl6pPr>
            <a:lvl7pPr algn="ctr">
              <a:defRPr b="1">
                <a:solidFill>
                  <a:srgbClr val="2469C8"/>
                </a:solidFill>
                <a:latin typeface="Arial"/>
                <a:ea typeface="Arial"/>
                <a:cs typeface="Arial"/>
              </a:defRPr>
            </a:lvl7pPr>
            <a:lvl8pPr algn="ctr">
              <a:defRPr b="1">
                <a:solidFill>
                  <a:srgbClr val="2469C8"/>
                </a:solidFill>
                <a:latin typeface="Arial"/>
                <a:ea typeface="Arial"/>
                <a:cs typeface="Arial"/>
              </a:defRPr>
            </a:lvl8pPr>
            <a:lvl9pPr algn="ctr">
              <a:defRPr b="1">
                <a:solidFill>
                  <a:srgbClr val="2469C8"/>
                </a:solidFill>
                <a:latin typeface="Arial"/>
                <a:ea typeface="Arial"/>
                <a:cs typeface="Arial"/>
              </a:defRPr>
            </a:lvl9pPr>
          </a:lstStyle>
          <a:p xmlns:a="http://schemas.openxmlformats.org/drawingml/2006/main">
            <a:pPr algn="ctr">
              <a:defRPr b="1">
                <a:solidFill>
                  <a:srgbClr val="2469C8"/>
                </a:solidFill>
                <a:latin typeface="Arial"/>
                <a:ea typeface="Arial"/>
                <a:cs typeface="Arial"/>
              </a:defRPr>
            </a:pPr>
            <a:r>
              <a:rPr b="1">
                <a:solidFill>
                  <a:srgbClr val="2469C8"/>
                </a:solidFill>
                <a:latin typeface="Arial"/>
                <a:ea typeface="Arial"/>
                <a:cs typeface="Arial"/>
              </a:rPr>
              <a:t>T05</a:t>
            </a:r>
          </a:p>
        </p:txBody>
      </p:sp>
    </p:spTree>
    <p:extLst>
      <p:ext uri="{BB962C8B-B14F-4D97-AF65-F5344CB8AC3E}">
        <p14:creationId xmlns:p14="http://schemas.microsoft.com/office/powerpoint/2010/main" val="20665747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477709C-FFB6-4622-A39A-C233DDE620B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A72"/>
          </a:solidFill>
          <a:ln xmlns:a="http://schemas.openxmlformats.org/drawingml/2006/main" w="0">
            <a:noFill/>
            <a:prstDash val="solid"/>
          </a:ln>
        </p:spPr>
      </p:sp>
      <p:sp>
        <p:nvSpPr>
          <p:cNvPr id="2" name="PayKX  |  Báo cáo lỗ lãi">
            <a:extLst xmlns:a="http://schemas.openxmlformats.org/drawingml/2006/main">
              <a:ext uri="{FF2B5EF4-FFF2-40B4-BE49-F238E27FC236}">
                <a16:creationId xmlns:a16="http://schemas.microsoft.com/office/drawing/2014/main" id="{0E53292B-7B86-488C-94C8-42FBAB38D968}"/>
              </a:ext>
            </a:extLst>
          </p:cNvPr>
          <p:cNvSpPr>
            <a:spLocks xmlns:a="http://schemas.openxmlformats.org/drawingml/2006/main" noGrp="1"/>
          </p:cNvSpPr>
          <p:nvPr/>
        </p:nvSpPr>
        <p:spPr>
          <a:xfrm xmlns:a="http://schemas.openxmlformats.org/drawingml/2006/main">
            <a:off x="533400" y="323850"/>
            <a:ext cx="657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23A72"/>
                </a:solidFill>
                <a:latin typeface="Arial"/>
                <a:ea typeface="Arial"/>
                <a:cs typeface="Arial"/>
              </a:defRPr>
            </a:defPPr>
            <a:lvl1pPr algn="l">
              <a:defRPr b="1">
                <a:solidFill>
                  <a:srgbClr val="123A72"/>
                </a:solidFill>
                <a:latin typeface="Arial"/>
                <a:ea typeface="Arial"/>
                <a:cs typeface="Arial"/>
              </a:defRPr>
            </a:lvl1pPr>
            <a:lvl2pPr algn="l">
              <a:defRPr b="1">
                <a:solidFill>
                  <a:srgbClr val="123A72"/>
                </a:solidFill>
                <a:latin typeface="Arial"/>
                <a:ea typeface="Arial"/>
                <a:cs typeface="Arial"/>
              </a:defRPr>
            </a:lvl2pPr>
            <a:lvl3pPr algn="l">
              <a:defRPr b="1">
                <a:solidFill>
                  <a:srgbClr val="123A72"/>
                </a:solidFill>
                <a:latin typeface="Arial"/>
                <a:ea typeface="Arial"/>
                <a:cs typeface="Arial"/>
              </a:defRPr>
            </a:lvl3pPr>
            <a:lvl4pPr algn="l">
              <a:defRPr b="1">
                <a:solidFill>
                  <a:srgbClr val="123A72"/>
                </a:solidFill>
                <a:latin typeface="Arial"/>
                <a:ea typeface="Arial"/>
                <a:cs typeface="Arial"/>
              </a:defRPr>
            </a:lvl4pPr>
            <a:lvl5pPr algn="l">
              <a:defRPr b="1">
                <a:solidFill>
                  <a:srgbClr val="123A72"/>
                </a:solidFill>
                <a:latin typeface="Arial"/>
                <a:ea typeface="Arial"/>
                <a:cs typeface="Arial"/>
              </a:defRPr>
            </a:lvl5pPr>
            <a:lvl6pPr algn="l">
              <a:defRPr b="1">
                <a:solidFill>
                  <a:srgbClr val="123A72"/>
                </a:solidFill>
                <a:latin typeface="Arial"/>
                <a:ea typeface="Arial"/>
                <a:cs typeface="Arial"/>
              </a:defRPr>
            </a:lvl6pPr>
            <a:lvl7pPr algn="l">
              <a:defRPr b="1">
                <a:solidFill>
                  <a:srgbClr val="123A72"/>
                </a:solidFill>
                <a:latin typeface="Arial"/>
                <a:ea typeface="Arial"/>
                <a:cs typeface="Arial"/>
              </a:defRPr>
            </a:lvl7pPr>
            <a:lvl8pPr algn="l">
              <a:defRPr b="1">
                <a:solidFill>
                  <a:srgbClr val="123A72"/>
                </a:solidFill>
                <a:latin typeface="Arial"/>
                <a:ea typeface="Arial"/>
                <a:cs typeface="Arial"/>
              </a:defRPr>
            </a:lvl8pPr>
            <a:lvl9pPr algn="l">
              <a:defRPr b="1">
                <a:solidFill>
                  <a:srgbClr val="123A72"/>
                </a:solidFill>
                <a:latin typeface="Arial"/>
                <a:ea typeface="Arial"/>
                <a:cs typeface="Arial"/>
              </a:defRPr>
            </a:lvl9pPr>
          </a:lstStyle>
          <a:p xmlns:a="http://schemas.openxmlformats.org/drawingml/2006/main">
            <a:pPr algn="l">
              <a:defRPr b="1">
                <a:solidFill>
                  <a:srgbClr val="123A72"/>
                </a:solidFill>
                <a:latin typeface="Arial"/>
                <a:ea typeface="Arial"/>
                <a:cs typeface="Arial"/>
              </a:defRPr>
            </a:pPr>
            <a:r>
              <a:rPr b="1">
                <a:solidFill>
                  <a:srgbClr val="123A72"/>
                </a:solidFill>
                <a:latin typeface="Arial"/>
                <a:ea typeface="Arial"/>
                <a:cs typeface="Arial"/>
              </a:rPr>
              <a:t>PayKX  |  Báo cáo lỗ lãi</a:t>
            </a:r>
          </a:p>
        </p:txBody>
      </p:sp>
      <p:sp>
        <p:nvSpPr>
          <p:cNvPr id="3" name="Tháng 05/2024     •     02">
            <a:extLst xmlns:a="http://schemas.openxmlformats.org/drawingml/2006/main">
              <a:ext uri="{FF2B5EF4-FFF2-40B4-BE49-F238E27FC236}">
                <a16:creationId xmlns:a16="http://schemas.microsoft.com/office/drawing/2014/main" id="{D33DE769-D175-44A1-B4B2-979B866724B3}"/>
              </a:ext>
            </a:extLst>
          </p:cNvPr>
          <p:cNvSpPr>
            <a:spLocks xmlns:a="http://schemas.openxmlformats.org/drawingml/2006/main" noGrp="1"/>
          </p:cNvSpPr>
          <p:nvPr/>
        </p:nvSpPr>
        <p:spPr>
          <a:xfrm xmlns:a="http://schemas.openxmlformats.org/drawingml/2006/main">
            <a:off x="8763000" y="32385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b="0">
                <a:solidFill>
                  <a:srgbClr val="5D6B80"/>
                </a:solidFill>
                <a:latin typeface="Arial"/>
                <a:ea typeface="Arial"/>
                <a:cs typeface="Arial"/>
              </a:defRPr>
            </a:defPPr>
            <a:lvl1pPr algn="r">
              <a:defRPr b="0">
                <a:solidFill>
                  <a:srgbClr val="5D6B80"/>
                </a:solidFill>
                <a:latin typeface="Arial"/>
                <a:ea typeface="Arial"/>
                <a:cs typeface="Arial"/>
              </a:defRPr>
            </a:lvl1pPr>
            <a:lvl2pPr algn="r">
              <a:defRPr b="0">
                <a:solidFill>
                  <a:srgbClr val="5D6B80"/>
                </a:solidFill>
                <a:latin typeface="Arial"/>
                <a:ea typeface="Arial"/>
                <a:cs typeface="Arial"/>
              </a:defRPr>
            </a:lvl2pPr>
            <a:lvl3pPr algn="r">
              <a:defRPr b="0">
                <a:solidFill>
                  <a:srgbClr val="5D6B80"/>
                </a:solidFill>
                <a:latin typeface="Arial"/>
                <a:ea typeface="Arial"/>
                <a:cs typeface="Arial"/>
              </a:defRPr>
            </a:lvl3pPr>
            <a:lvl4pPr algn="r">
              <a:defRPr b="0">
                <a:solidFill>
                  <a:srgbClr val="5D6B80"/>
                </a:solidFill>
                <a:latin typeface="Arial"/>
                <a:ea typeface="Arial"/>
                <a:cs typeface="Arial"/>
              </a:defRPr>
            </a:lvl4pPr>
            <a:lvl5pPr algn="r">
              <a:defRPr b="0">
                <a:solidFill>
                  <a:srgbClr val="5D6B80"/>
                </a:solidFill>
                <a:latin typeface="Arial"/>
                <a:ea typeface="Arial"/>
                <a:cs typeface="Arial"/>
              </a:defRPr>
            </a:lvl5pPr>
            <a:lvl6pPr algn="r">
              <a:defRPr b="0">
                <a:solidFill>
                  <a:srgbClr val="5D6B80"/>
                </a:solidFill>
                <a:latin typeface="Arial"/>
                <a:ea typeface="Arial"/>
                <a:cs typeface="Arial"/>
              </a:defRPr>
            </a:lvl6pPr>
            <a:lvl7pPr algn="r">
              <a:defRPr b="0">
                <a:solidFill>
                  <a:srgbClr val="5D6B80"/>
                </a:solidFill>
                <a:latin typeface="Arial"/>
                <a:ea typeface="Arial"/>
                <a:cs typeface="Arial"/>
              </a:defRPr>
            </a:lvl7pPr>
            <a:lvl8pPr algn="r">
              <a:defRPr b="0">
                <a:solidFill>
                  <a:srgbClr val="5D6B80"/>
                </a:solidFill>
                <a:latin typeface="Arial"/>
                <a:ea typeface="Arial"/>
                <a:cs typeface="Arial"/>
              </a:defRPr>
            </a:lvl8pPr>
            <a:lvl9pPr algn="r">
              <a:defRPr b="0">
                <a:solidFill>
                  <a:srgbClr val="5D6B80"/>
                </a:solidFill>
                <a:latin typeface="Arial"/>
                <a:ea typeface="Arial"/>
                <a:cs typeface="Arial"/>
              </a:defRPr>
            </a:lvl9pPr>
          </a:lstStyle>
          <a:p xmlns:a="http://schemas.openxmlformats.org/drawingml/2006/main">
            <a:pPr algn="r">
              <a:defRPr b="0">
                <a:solidFill>
                  <a:srgbClr val="5D6B80"/>
                </a:solidFill>
                <a:latin typeface="Arial"/>
                <a:ea typeface="Arial"/>
                <a:cs typeface="Arial"/>
              </a:defRPr>
            </a:pPr>
            <a:r>
              <a:rPr b="0">
                <a:solidFill>
                  <a:srgbClr val="5D6B80"/>
                </a:solidFill>
                <a:latin typeface="Arial"/>
                <a:ea typeface="Arial"/>
                <a:cs typeface="Arial"/>
              </a:rPr>
              <a:t>Tháng 05/2024     •     02</a:t>
            </a:r>
          </a:p>
        </p:txBody>
      </p:sp>
      <p:sp>
        <p:nvSpPr>
          <p:cNvPr id="4" name="">
            <a:extLst xmlns:a="http://schemas.openxmlformats.org/drawingml/2006/main">
              <a:ext uri="{FF2B5EF4-FFF2-40B4-BE49-F238E27FC236}">
                <a16:creationId xmlns:a16="http://schemas.microsoft.com/office/drawing/2014/main" id="{016D5121-D4DE-4033-9781-5A08832A90E4}"/>
              </a:ext>
            </a:extLst>
          </p:cNvPr>
          <p:cNvSpPr>
            <a:spLocks xmlns:a="http://schemas.openxmlformats.org/drawingml/2006/main" noGrp="1"/>
          </p:cNvSpPr>
          <p:nvPr/>
        </p:nvSpPr>
        <p:spPr>
          <a:xfrm xmlns:a="http://schemas.openxmlformats.org/drawingml/2006/main">
            <a:off x="533400" y="895350"/>
            <a:ext cx="11125200" cy="19050"/>
          </a:xfrm>
          <a:prstGeom xmlns:a="http://schemas.openxmlformats.org/drawingml/2006/main" prst="rect">
            <a:avLst/>
          </a:prstGeom>
          <a:solidFill xmlns:a="http://schemas.openxmlformats.org/drawingml/2006/main">
            <a:srgbClr val="D9E2EF"/>
          </a:solidFill>
          <a:ln xmlns:a="http://schemas.openxmlformats.org/drawingml/2006/main" w="0">
            <a:noFill/>
            <a:prstDash val="solid"/>
          </a:ln>
        </p:spPr>
      </p:sp>
      <p:sp>
        <p:nvSpPr>
          <p:cNvPr id="5" name="Phí đối tác ngân hàng chiếm ">
            <a:extLst xmlns:a="http://schemas.openxmlformats.org/drawingml/2006/main">
              <a:ext uri="{FF2B5EF4-FFF2-40B4-BE49-F238E27FC236}">
                <a16:creationId xmlns:a16="http://schemas.microsoft.com/office/drawing/2014/main" id="{272943C3-C53D-45A3-95A3-93D657B88B08}"/>
              </a:ext>
            </a:extLst>
          </p:cNvPr>
          <p:cNvSpPr>
            <a:spLocks xmlns:a="http://schemas.openxmlformats.org/drawingml/2006/main" noGrp="1"/>
          </p:cNvSpPr>
          <p:nvPr/>
        </p:nvSpPr>
        <p:spPr>
          <a:xfrm xmlns:a="http://schemas.openxmlformats.org/drawingml/2006/main">
            <a:off x="533400" y="112395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23A72"/>
                </a:solidFill>
                <a:latin typeface="Arial"/>
                <a:ea typeface="Arial"/>
                <a:cs typeface="Arial"/>
              </a:defRPr>
            </a:defPPr>
            <a:lvl1pPr algn="l">
              <a:defRPr b="1">
                <a:solidFill>
                  <a:srgbClr val="123A72"/>
                </a:solidFill>
                <a:latin typeface="Arial"/>
                <a:ea typeface="Arial"/>
                <a:cs typeface="Arial"/>
              </a:defRPr>
            </a:lvl1pPr>
            <a:lvl2pPr algn="l">
              <a:defRPr b="1">
                <a:solidFill>
                  <a:srgbClr val="123A72"/>
                </a:solidFill>
                <a:latin typeface="Arial"/>
                <a:ea typeface="Arial"/>
                <a:cs typeface="Arial"/>
              </a:defRPr>
            </a:lvl2pPr>
            <a:lvl3pPr algn="l">
              <a:defRPr b="1">
                <a:solidFill>
                  <a:srgbClr val="123A72"/>
                </a:solidFill>
                <a:latin typeface="Arial"/>
                <a:ea typeface="Arial"/>
                <a:cs typeface="Arial"/>
              </a:defRPr>
            </a:lvl3pPr>
            <a:lvl4pPr algn="l">
              <a:defRPr b="1">
                <a:solidFill>
                  <a:srgbClr val="123A72"/>
                </a:solidFill>
                <a:latin typeface="Arial"/>
                <a:ea typeface="Arial"/>
                <a:cs typeface="Arial"/>
              </a:defRPr>
            </a:lvl4pPr>
            <a:lvl5pPr algn="l">
              <a:defRPr b="1">
                <a:solidFill>
                  <a:srgbClr val="123A72"/>
                </a:solidFill>
                <a:latin typeface="Arial"/>
                <a:ea typeface="Arial"/>
                <a:cs typeface="Arial"/>
              </a:defRPr>
            </a:lvl5pPr>
            <a:lvl6pPr algn="l">
              <a:defRPr b="1">
                <a:solidFill>
                  <a:srgbClr val="123A72"/>
                </a:solidFill>
                <a:latin typeface="Arial"/>
                <a:ea typeface="Arial"/>
                <a:cs typeface="Arial"/>
              </a:defRPr>
            </a:lvl6pPr>
            <a:lvl7pPr algn="l">
              <a:defRPr b="1">
                <a:solidFill>
                  <a:srgbClr val="123A72"/>
                </a:solidFill>
                <a:latin typeface="Arial"/>
                <a:ea typeface="Arial"/>
                <a:cs typeface="Arial"/>
              </a:defRPr>
            </a:lvl7pPr>
            <a:lvl8pPr algn="l">
              <a:defRPr b="1">
                <a:solidFill>
                  <a:srgbClr val="123A72"/>
                </a:solidFill>
                <a:latin typeface="Arial"/>
                <a:ea typeface="Arial"/>
                <a:cs typeface="Arial"/>
              </a:defRPr>
            </a:lvl8pPr>
            <a:lvl9pPr algn="l">
              <a:defRPr b="1">
                <a:solidFill>
                  <a:srgbClr val="123A72"/>
                </a:solidFill>
                <a:latin typeface="Arial"/>
                <a:ea typeface="Arial"/>
                <a:cs typeface="Arial"/>
              </a:defRPr>
            </a:lvl9pPr>
          </a:lstStyle>
          <a:p xmlns:a="http://schemas.openxmlformats.org/drawingml/2006/main">
            <a:pPr algn="l">
              <a:defRPr b="1">
                <a:solidFill>
                  <a:srgbClr val="123A72"/>
                </a:solidFill>
                <a:latin typeface="Arial"/>
                <a:ea typeface="Arial"/>
                <a:cs typeface="Arial"/>
              </a:defRPr>
            </a:pPr>
            <a:r>
              <a:rPr b="1">
                <a:solidFill>
                  <a:srgbClr val="123A72"/>
                </a:solidFill>
                <a:latin typeface="Arial"/>
                <a:ea typeface="Arial"/>
                <a:cs typeface="Arial"/>
              </a:rPr>
              <a:t>Phí đối tác ngân hàng chiếm 46% tổng chi phí</a:t>
            </a:r>
          </a:p>
        </p:txBody>
      </p:sp>
      <p:sp>
        <p:nvSpPr>
          <p:cNvPr id="6" name="Tổng chi phí tháng 5: 7,28 t">
            <a:extLst xmlns:a="http://schemas.openxmlformats.org/drawingml/2006/main">
              <a:ext uri="{FF2B5EF4-FFF2-40B4-BE49-F238E27FC236}">
                <a16:creationId xmlns:a16="http://schemas.microsoft.com/office/drawing/2014/main" id="{15FDE004-D97C-4843-9E5C-5537C1C9D4C6}"/>
              </a:ext>
            </a:extLst>
          </p:cNvPr>
          <p:cNvSpPr>
            <a:spLocks xmlns:a="http://schemas.openxmlformats.org/drawingml/2006/main" noGrp="1"/>
          </p:cNvSpPr>
          <p:nvPr/>
        </p:nvSpPr>
        <p:spPr>
          <a:xfrm xmlns:a="http://schemas.openxmlformats.org/drawingml/2006/main">
            <a:off x="533400" y="1809750"/>
            <a:ext cx="1112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0">
                <a:solidFill>
                  <a:srgbClr val="5D6B80"/>
                </a:solidFill>
                <a:latin typeface="Arial"/>
                <a:ea typeface="Arial"/>
                <a:cs typeface="Arial"/>
              </a:defRPr>
            </a:defPPr>
            <a:lvl1pPr algn="l">
              <a:defRPr b="0">
                <a:solidFill>
                  <a:srgbClr val="5D6B80"/>
                </a:solidFill>
                <a:latin typeface="Arial"/>
                <a:ea typeface="Arial"/>
                <a:cs typeface="Arial"/>
              </a:defRPr>
            </a:lvl1pPr>
            <a:lvl2pPr algn="l">
              <a:defRPr b="0">
                <a:solidFill>
                  <a:srgbClr val="5D6B80"/>
                </a:solidFill>
                <a:latin typeface="Arial"/>
                <a:ea typeface="Arial"/>
                <a:cs typeface="Arial"/>
              </a:defRPr>
            </a:lvl2pPr>
            <a:lvl3pPr algn="l">
              <a:defRPr b="0">
                <a:solidFill>
                  <a:srgbClr val="5D6B80"/>
                </a:solidFill>
                <a:latin typeface="Arial"/>
                <a:ea typeface="Arial"/>
                <a:cs typeface="Arial"/>
              </a:defRPr>
            </a:lvl3pPr>
            <a:lvl4pPr algn="l">
              <a:defRPr b="0">
                <a:solidFill>
                  <a:srgbClr val="5D6B80"/>
                </a:solidFill>
                <a:latin typeface="Arial"/>
                <a:ea typeface="Arial"/>
                <a:cs typeface="Arial"/>
              </a:defRPr>
            </a:lvl4pPr>
            <a:lvl5pPr algn="l">
              <a:defRPr b="0">
                <a:solidFill>
                  <a:srgbClr val="5D6B80"/>
                </a:solidFill>
                <a:latin typeface="Arial"/>
                <a:ea typeface="Arial"/>
                <a:cs typeface="Arial"/>
              </a:defRPr>
            </a:lvl5pPr>
            <a:lvl6pPr algn="l">
              <a:defRPr b="0">
                <a:solidFill>
                  <a:srgbClr val="5D6B80"/>
                </a:solidFill>
                <a:latin typeface="Arial"/>
                <a:ea typeface="Arial"/>
                <a:cs typeface="Arial"/>
              </a:defRPr>
            </a:lvl6pPr>
            <a:lvl7pPr algn="l">
              <a:defRPr b="0">
                <a:solidFill>
                  <a:srgbClr val="5D6B80"/>
                </a:solidFill>
                <a:latin typeface="Arial"/>
                <a:ea typeface="Arial"/>
                <a:cs typeface="Arial"/>
              </a:defRPr>
            </a:lvl7pPr>
            <a:lvl8pPr algn="l">
              <a:defRPr b="0">
                <a:solidFill>
                  <a:srgbClr val="5D6B80"/>
                </a:solidFill>
                <a:latin typeface="Arial"/>
                <a:ea typeface="Arial"/>
                <a:cs typeface="Arial"/>
              </a:defRPr>
            </a:lvl8pPr>
            <a:lvl9pPr algn="l">
              <a:defRPr b="0">
                <a:solidFill>
                  <a:srgbClr val="5D6B80"/>
                </a:solidFill>
                <a:latin typeface="Arial"/>
                <a:ea typeface="Arial"/>
                <a:cs typeface="Arial"/>
              </a:defRPr>
            </a:lvl9pPr>
          </a:lstStyle>
          <a:p xmlns:a="http://schemas.openxmlformats.org/drawingml/2006/main">
            <a:pPr algn="l">
              <a:defRPr b="0">
                <a:solidFill>
                  <a:srgbClr val="5D6B80"/>
                </a:solidFill>
                <a:latin typeface="Arial"/>
                <a:ea typeface="Arial"/>
                <a:cs typeface="Arial"/>
              </a:defRPr>
            </a:pPr>
            <a:r>
              <a:rPr b="0">
                <a:solidFill>
                  <a:srgbClr val="5D6B80"/>
                </a:solidFill>
                <a:latin typeface="Arial"/>
                <a:ea typeface="Arial"/>
                <a:cs typeface="Arial"/>
              </a:rPr>
              <a:t>Tổng chi phí tháng 5: 7,28 tỷ VND</a:t>
            </a:r>
          </a:p>
        </p:txBody>
      </p:sp>
      <p:sp>
        <p:nvSpPr>
          <p:cNvPr id="7" name="">
            <a:extLst xmlns:a="http://schemas.openxmlformats.org/drawingml/2006/main">
              <a:ext uri="{FF2B5EF4-FFF2-40B4-BE49-F238E27FC236}">
                <a16:creationId xmlns:a16="http://schemas.microsoft.com/office/drawing/2014/main" id="{C0722D7B-DA51-4606-8C36-D4D2A0F34650}"/>
              </a:ext>
            </a:extLst>
          </p:cNvPr>
          <p:cNvSpPr>
            <a:spLocks xmlns:a="http://schemas.openxmlformats.org/drawingml/2006/main" noGrp="1"/>
          </p:cNvSpPr>
          <p:nvPr/>
        </p:nvSpPr>
        <p:spPr>
          <a:xfrm xmlns:a="http://schemas.openxmlformats.org/drawingml/2006/main">
            <a:off x="533400" y="2571750"/>
            <a:ext cx="5143500" cy="3524250"/>
          </a:xfrm>
          <a:prstGeom xmlns:a="http://schemas.openxmlformats.org/drawingml/2006/main" prst="roundRect">
            <a:avLst>
              <a:gd name="adj" fmla="val 6486"/>
            </a:avLst>
          </a:prstGeom>
          <a:solidFill xmlns:a="http://schemas.openxmlformats.org/drawingml/2006/main">
            <a:srgbClr val="EEF4FC"/>
          </a:solidFill>
          <a:ln xmlns:a="http://schemas.openxmlformats.org/drawingml/2006/main" w="0">
            <a:noFill/>
            <a:prstDash val="solid"/>
          </a:ln>
        </p:spPr>
      </p:sp>
      <p:graphicFrame>
        <p:nvGraphicFramePr>
          <p:cNvPr id="8" name="Chart">
            <a:extLst xmlns:a="http://schemas.openxmlformats.org/drawingml/2006/main">
              <a:ext uri="{FF2B5EF4-FFF2-40B4-BE49-F238E27FC236}">
                <a16:creationId xmlns:a16="http://schemas.microsoft.com/office/drawing/2014/main" id="{4EF9AADB-71A5-42CD-8201-5C47BF3EAA65}"/>
              </a:ext>
            </a:extLst>
          </p:cNvPr>
          <p:cNvGraphicFramePr/>
          <p:nvPr/>
        </p:nvGraphicFramePr>
        <p:xfrm>
          <a:off xmlns:a="http://schemas.openxmlformats.org/drawingml/2006/main" x="781050" y="2857500"/>
          <a:ext xmlns:a="http://schemas.openxmlformats.org/drawingml/2006/main" cx="4648200" cy="2990850"/>
        </p:xfrm>
        <a:graphic xmlns:a="http://schemas.openxmlformats.org/drawingml/2006/main">
          <a:graphicData uri="http://schemas.openxmlformats.org/drawingml/2006/chart">
            <c:chart xmlns:r="http://schemas.openxmlformats.org/officeDocument/2006/relationships" xmlns:c="http://schemas.openxmlformats.org/drawingml/2006/chart" r:id="R064664f595204c40"/>
          </a:graphicData>
        </a:graphic>
      </p:graphicFrame>
      <p:sp>
        <p:nvSpPr>
          <p:cNvPr id="9" name="7,28">
            <a:extLst xmlns:a="http://schemas.openxmlformats.org/drawingml/2006/main">
              <a:ext uri="{FF2B5EF4-FFF2-40B4-BE49-F238E27FC236}">
                <a16:creationId xmlns:a16="http://schemas.microsoft.com/office/drawing/2014/main" id="{60DC1598-03EC-4874-BF00-9A81275C2B30}"/>
              </a:ext>
            </a:extLst>
          </p:cNvPr>
          <p:cNvSpPr>
            <a:spLocks xmlns:a="http://schemas.openxmlformats.org/drawingml/2006/main" noGrp="1"/>
          </p:cNvSpPr>
          <p:nvPr/>
        </p:nvSpPr>
        <p:spPr>
          <a:xfrm xmlns:a="http://schemas.openxmlformats.org/drawingml/2006/main">
            <a:off x="1990725" y="4010025"/>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23A72"/>
                </a:solidFill>
                <a:latin typeface="Arial"/>
                <a:ea typeface="Arial"/>
                <a:cs typeface="Arial"/>
              </a:defRPr>
            </a:defPPr>
            <a:lvl1pPr algn="ctr">
              <a:defRPr b="1">
                <a:solidFill>
                  <a:srgbClr val="123A72"/>
                </a:solidFill>
                <a:latin typeface="Arial"/>
                <a:ea typeface="Arial"/>
                <a:cs typeface="Arial"/>
              </a:defRPr>
            </a:lvl1pPr>
            <a:lvl2pPr algn="ctr">
              <a:defRPr b="1">
                <a:solidFill>
                  <a:srgbClr val="123A72"/>
                </a:solidFill>
                <a:latin typeface="Arial"/>
                <a:ea typeface="Arial"/>
                <a:cs typeface="Arial"/>
              </a:defRPr>
            </a:lvl2pPr>
            <a:lvl3pPr algn="ctr">
              <a:defRPr b="1">
                <a:solidFill>
                  <a:srgbClr val="123A72"/>
                </a:solidFill>
                <a:latin typeface="Arial"/>
                <a:ea typeface="Arial"/>
                <a:cs typeface="Arial"/>
              </a:defRPr>
            </a:lvl3pPr>
            <a:lvl4pPr algn="ctr">
              <a:defRPr b="1">
                <a:solidFill>
                  <a:srgbClr val="123A72"/>
                </a:solidFill>
                <a:latin typeface="Arial"/>
                <a:ea typeface="Arial"/>
                <a:cs typeface="Arial"/>
              </a:defRPr>
            </a:lvl4pPr>
            <a:lvl5pPr algn="ctr">
              <a:defRPr b="1">
                <a:solidFill>
                  <a:srgbClr val="123A72"/>
                </a:solidFill>
                <a:latin typeface="Arial"/>
                <a:ea typeface="Arial"/>
                <a:cs typeface="Arial"/>
              </a:defRPr>
            </a:lvl5pPr>
            <a:lvl6pPr algn="ctr">
              <a:defRPr b="1">
                <a:solidFill>
                  <a:srgbClr val="123A72"/>
                </a:solidFill>
                <a:latin typeface="Arial"/>
                <a:ea typeface="Arial"/>
                <a:cs typeface="Arial"/>
              </a:defRPr>
            </a:lvl6pPr>
            <a:lvl7pPr algn="ctr">
              <a:defRPr b="1">
                <a:solidFill>
                  <a:srgbClr val="123A72"/>
                </a:solidFill>
                <a:latin typeface="Arial"/>
                <a:ea typeface="Arial"/>
                <a:cs typeface="Arial"/>
              </a:defRPr>
            </a:lvl7pPr>
            <a:lvl8pPr algn="ctr">
              <a:defRPr b="1">
                <a:solidFill>
                  <a:srgbClr val="123A72"/>
                </a:solidFill>
                <a:latin typeface="Arial"/>
                <a:ea typeface="Arial"/>
                <a:cs typeface="Arial"/>
              </a:defRPr>
            </a:lvl8pPr>
            <a:lvl9pPr algn="ctr">
              <a:defRPr b="1">
                <a:solidFill>
                  <a:srgbClr val="123A72"/>
                </a:solidFill>
                <a:latin typeface="Arial"/>
                <a:ea typeface="Arial"/>
                <a:cs typeface="Arial"/>
              </a:defRPr>
            </a:lvl9pPr>
          </a:lstStyle>
          <a:p xmlns:a="http://schemas.openxmlformats.org/drawingml/2006/main">
            <a:pPr algn="ctr">
              <a:defRPr b="1">
                <a:solidFill>
                  <a:srgbClr val="123A72"/>
                </a:solidFill>
                <a:latin typeface="Arial"/>
                <a:ea typeface="Arial"/>
                <a:cs typeface="Arial"/>
              </a:defRPr>
            </a:pPr>
            <a:r>
              <a:rPr b="1">
                <a:solidFill>
                  <a:srgbClr val="123A72"/>
                </a:solidFill>
                <a:latin typeface="Arial"/>
                <a:ea typeface="Arial"/>
                <a:cs typeface="Arial"/>
              </a:rPr>
              <a:t>7,28</a:t>
            </a:r>
          </a:p>
        </p:txBody>
      </p:sp>
      <p:sp>
        <p:nvSpPr>
          <p:cNvPr id="10" name="TỶ VND">
            <a:extLst xmlns:a="http://schemas.openxmlformats.org/drawingml/2006/main">
              <a:ext uri="{FF2B5EF4-FFF2-40B4-BE49-F238E27FC236}">
                <a16:creationId xmlns:a16="http://schemas.microsoft.com/office/drawing/2014/main" id="{0340F658-85F0-48EF-B6FF-50D35DB8C18F}"/>
              </a:ext>
            </a:extLst>
          </p:cNvPr>
          <p:cNvSpPr>
            <a:spLocks xmlns:a="http://schemas.openxmlformats.org/drawingml/2006/main" noGrp="1"/>
          </p:cNvSpPr>
          <p:nvPr/>
        </p:nvSpPr>
        <p:spPr>
          <a:xfrm xmlns:a="http://schemas.openxmlformats.org/drawingml/2006/main">
            <a:off x="1990725" y="45910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TỶ VND</a:t>
            </a:r>
          </a:p>
        </p:txBody>
      </p:sp>
      <p:sp>
        <p:nvSpPr>
          <p:cNvPr id="11" name="">
            <a:extLst xmlns:a="http://schemas.openxmlformats.org/drawingml/2006/main">
              <a:ext uri="{FF2B5EF4-FFF2-40B4-BE49-F238E27FC236}">
                <a16:creationId xmlns:a16="http://schemas.microsoft.com/office/drawing/2014/main" id="{B432CDC6-427F-4B64-AEF9-9AD8F0C1865D}"/>
              </a:ext>
            </a:extLst>
          </p:cNvPr>
          <p:cNvSpPr>
            <a:spLocks xmlns:a="http://schemas.openxmlformats.org/drawingml/2006/main" noGrp="1"/>
          </p:cNvSpPr>
          <p:nvPr/>
        </p:nvSpPr>
        <p:spPr>
          <a:xfrm xmlns:a="http://schemas.openxmlformats.org/drawingml/2006/main">
            <a:off x="6191250" y="2867025"/>
            <a:ext cx="228600" cy="228600"/>
          </a:xfrm>
          <a:prstGeom xmlns:a="http://schemas.openxmlformats.org/drawingml/2006/main" prst="roundRect">
            <a:avLst>
              <a:gd name="adj" fmla="val 50000"/>
            </a:avLst>
          </a:prstGeom>
          <a:solidFill xmlns:a="http://schemas.openxmlformats.org/drawingml/2006/main">
            <a:srgbClr val="2469C8"/>
          </a:solidFill>
          <a:ln xmlns:a="http://schemas.openxmlformats.org/drawingml/2006/main" w="0">
            <a:noFill/>
            <a:prstDash val="solid"/>
          </a:ln>
        </p:spPr>
      </p:sp>
      <p:sp>
        <p:nvSpPr>
          <p:cNvPr id="12" name="Phí đối tác ngân hàng">
            <a:extLst xmlns:a="http://schemas.openxmlformats.org/drawingml/2006/main">
              <a:ext uri="{FF2B5EF4-FFF2-40B4-BE49-F238E27FC236}">
                <a16:creationId xmlns:a16="http://schemas.microsoft.com/office/drawing/2014/main" id="{D1EA9D9A-2E28-4CFC-824C-A5FD10184891}"/>
              </a:ext>
            </a:extLst>
          </p:cNvPr>
          <p:cNvSpPr>
            <a:spLocks xmlns:a="http://schemas.openxmlformats.org/drawingml/2006/main" noGrp="1"/>
          </p:cNvSpPr>
          <p:nvPr/>
        </p:nvSpPr>
        <p:spPr>
          <a:xfrm xmlns:a="http://schemas.openxmlformats.org/drawingml/2006/main">
            <a:off x="6610350" y="27432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Phí đối tác ngân hàng</a:t>
            </a:r>
          </a:p>
        </p:txBody>
      </p:sp>
      <p:sp>
        <p:nvSpPr>
          <p:cNvPr id="13" name="46%">
            <a:extLst xmlns:a="http://schemas.openxmlformats.org/drawingml/2006/main">
              <a:ext uri="{FF2B5EF4-FFF2-40B4-BE49-F238E27FC236}">
                <a16:creationId xmlns:a16="http://schemas.microsoft.com/office/drawing/2014/main" id="{058D9A5E-F282-4FF6-89C8-55C9D3DBB6F1}"/>
              </a:ext>
            </a:extLst>
          </p:cNvPr>
          <p:cNvSpPr>
            <a:spLocks xmlns:a="http://schemas.openxmlformats.org/drawingml/2006/main" noGrp="1"/>
          </p:cNvSpPr>
          <p:nvPr/>
        </p:nvSpPr>
        <p:spPr>
          <a:xfrm xmlns:a="http://schemas.openxmlformats.org/drawingml/2006/main">
            <a:off x="10382250" y="27432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b="1">
                <a:solidFill>
                  <a:srgbClr val="2469C8"/>
                </a:solidFill>
                <a:latin typeface="Arial"/>
                <a:ea typeface="Arial"/>
                <a:cs typeface="Arial"/>
              </a:defRPr>
            </a:defPPr>
            <a:lvl1pPr algn="r">
              <a:defRPr b="1">
                <a:solidFill>
                  <a:srgbClr val="2469C8"/>
                </a:solidFill>
                <a:latin typeface="Arial"/>
                <a:ea typeface="Arial"/>
                <a:cs typeface="Arial"/>
              </a:defRPr>
            </a:lvl1pPr>
            <a:lvl2pPr algn="r">
              <a:defRPr b="1">
                <a:solidFill>
                  <a:srgbClr val="2469C8"/>
                </a:solidFill>
                <a:latin typeface="Arial"/>
                <a:ea typeface="Arial"/>
                <a:cs typeface="Arial"/>
              </a:defRPr>
            </a:lvl2pPr>
            <a:lvl3pPr algn="r">
              <a:defRPr b="1">
                <a:solidFill>
                  <a:srgbClr val="2469C8"/>
                </a:solidFill>
                <a:latin typeface="Arial"/>
                <a:ea typeface="Arial"/>
                <a:cs typeface="Arial"/>
              </a:defRPr>
            </a:lvl3pPr>
            <a:lvl4pPr algn="r">
              <a:defRPr b="1">
                <a:solidFill>
                  <a:srgbClr val="2469C8"/>
                </a:solidFill>
                <a:latin typeface="Arial"/>
                <a:ea typeface="Arial"/>
                <a:cs typeface="Arial"/>
              </a:defRPr>
            </a:lvl4pPr>
            <a:lvl5pPr algn="r">
              <a:defRPr b="1">
                <a:solidFill>
                  <a:srgbClr val="2469C8"/>
                </a:solidFill>
                <a:latin typeface="Arial"/>
                <a:ea typeface="Arial"/>
                <a:cs typeface="Arial"/>
              </a:defRPr>
            </a:lvl5pPr>
            <a:lvl6pPr algn="r">
              <a:defRPr b="1">
                <a:solidFill>
                  <a:srgbClr val="2469C8"/>
                </a:solidFill>
                <a:latin typeface="Arial"/>
                <a:ea typeface="Arial"/>
                <a:cs typeface="Arial"/>
              </a:defRPr>
            </a:lvl6pPr>
            <a:lvl7pPr algn="r">
              <a:defRPr b="1">
                <a:solidFill>
                  <a:srgbClr val="2469C8"/>
                </a:solidFill>
                <a:latin typeface="Arial"/>
                <a:ea typeface="Arial"/>
                <a:cs typeface="Arial"/>
              </a:defRPr>
            </a:lvl7pPr>
            <a:lvl8pPr algn="r">
              <a:defRPr b="1">
                <a:solidFill>
                  <a:srgbClr val="2469C8"/>
                </a:solidFill>
                <a:latin typeface="Arial"/>
                <a:ea typeface="Arial"/>
                <a:cs typeface="Arial"/>
              </a:defRPr>
            </a:lvl8pPr>
            <a:lvl9pPr algn="r">
              <a:defRPr b="1">
                <a:solidFill>
                  <a:srgbClr val="2469C8"/>
                </a:solidFill>
                <a:latin typeface="Arial"/>
                <a:ea typeface="Arial"/>
                <a:cs typeface="Arial"/>
              </a:defRPr>
            </a:lvl9pPr>
          </a:lstStyle>
          <a:p xmlns:a="http://schemas.openxmlformats.org/drawingml/2006/main">
            <a:pPr algn="r">
              <a:defRPr b="1">
                <a:solidFill>
                  <a:srgbClr val="2469C8"/>
                </a:solidFill>
                <a:latin typeface="Arial"/>
                <a:ea typeface="Arial"/>
                <a:cs typeface="Arial"/>
              </a:defRPr>
            </a:pPr>
            <a:r>
              <a:rPr b="1">
                <a:solidFill>
                  <a:srgbClr val="2469C8"/>
                </a:solidFill>
                <a:latin typeface="Arial"/>
                <a:ea typeface="Arial"/>
                <a:cs typeface="Arial"/>
              </a:rPr>
              <a:t>46%</a:t>
            </a:r>
          </a:p>
        </p:txBody>
      </p:sp>
      <p:sp>
        <p:nvSpPr>
          <p:cNvPr id="14" name="">
            <a:extLst xmlns:a="http://schemas.openxmlformats.org/drawingml/2006/main">
              <a:ext uri="{FF2B5EF4-FFF2-40B4-BE49-F238E27FC236}">
                <a16:creationId xmlns:a16="http://schemas.microsoft.com/office/drawing/2014/main" id="{C4809B96-FF1A-4310-B173-9973AA665230}"/>
              </a:ext>
            </a:extLst>
          </p:cNvPr>
          <p:cNvSpPr>
            <a:spLocks xmlns:a="http://schemas.openxmlformats.org/drawingml/2006/main" noGrp="1"/>
          </p:cNvSpPr>
          <p:nvPr/>
        </p:nvSpPr>
        <p:spPr>
          <a:xfrm xmlns:a="http://schemas.openxmlformats.org/drawingml/2006/main">
            <a:off x="6191250" y="3667125"/>
            <a:ext cx="228600" cy="228600"/>
          </a:xfrm>
          <a:prstGeom xmlns:a="http://schemas.openxmlformats.org/drawingml/2006/main" prst="roundRect">
            <a:avLst>
              <a:gd name="adj" fmla="val 50000"/>
            </a:avLst>
          </a:prstGeom>
          <a:solidFill xmlns:a="http://schemas.openxmlformats.org/drawingml/2006/main">
            <a:srgbClr val="31935B"/>
          </a:solidFill>
          <a:ln xmlns:a="http://schemas.openxmlformats.org/drawingml/2006/main" w="0">
            <a:noFill/>
            <a:prstDash val="solid"/>
          </a:ln>
        </p:spPr>
      </p:sp>
      <p:sp>
        <p:nvSpPr>
          <p:cNvPr id="15" name="Chi phí vận hành">
            <a:extLst xmlns:a="http://schemas.openxmlformats.org/drawingml/2006/main">
              <a:ext uri="{FF2B5EF4-FFF2-40B4-BE49-F238E27FC236}">
                <a16:creationId xmlns:a16="http://schemas.microsoft.com/office/drawing/2014/main" id="{BB4FD364-086E-41E8-AF87-145E56180249}"/>
              </a:ext>
            </a:extLst>
          </p:cNvPr>
          <p:cNvSpPr>
            <a:spLocks xmlns:a="http://schemas.openxmlformats.org/drawingml/2006/main" noGrp="1"/>
          </p:cNvSpPr>
          <p:nvPr/>
        </p:nvSpPr>
        <p:spPr>
          <a:xfrm xmlns:a="http://schemas.openxmlformats.org/drawingml/2006/main">
            <a:off x="6610350" y="35433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Chi phí vận hành</a:t>
            </a:r>
          </a:p>
        </p:txBody>
      </p:sp>
      <p:sp>
        <p:nvSpPr>
          <p:cNvPr id="16" name="28%">
            <a:extLst xmlns:a="http://schemas.openxmlformats.org/drawingml/2006/main">
              <a:ext uri="{FF2B5EF4-FFF2-40B4-BE49-F238E27FC236}">
                <a16:creationId xmlns:a16="http://schemas.microsoft.com/office/drawing/2014/main" id="{02404537-CB66-49EA-B69E-42EE2ABC3AD6}"/>
              </a:ext>
            </a:extLst>
          </p:cNvPr>
          <p:cNvSpPr>
            <a:spLocks xmlns:a="http://schemas.openxmlformats.org/drawingml/2006/main" noGrp="1"/>
          </p:cNvSpPr>
          <p:nvPr/>
        </p:nvSpPr>
        <p:spPr>
          <a:xfrm xmlns:a="http://schemas.openxmlformats.org/drawingml/2006/main">
            <a:off x="10382250" y="35433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b="1">
                <a:solidFill>
                  <a:srgbClr val="31935B"/>
                </a:solidFill>
                <a:latin typeface="Arial"/>
                <a:ea typeface="Arial"/>
                <a:cs typeface="Arial"/>
              </a:defRPr>
            </a:defPPr>
            <a:lvl1pPr algn="r">
              <a:defRPr b="1">
                <a:solidFill>
                  <a:srgbClr val="31935B"/>
                </a:solidFill>
                <a:latin typeface="Arial"/>
                <a:ea typeface="Arial"/>
                <a:cs typeface="Arial"/>
              </a:defRPr>
            </a:lvl1pPr>
            <a:lvl2pPr algn="r">
              <a:defRPr b="1">
                <a:solidFill>
                  <a:srgbClr val="31935B"/>
                </a:solidFill>
                <a:latin typeface="Arial"/>
                <a:ea typeface="Arial"/>
                <a:cs typeface="Arial"/>
              </a:defRPr>
            </a:lvl2pPr>
            <a:lvl3pPr algn="r">
              <a:defRPr b="1">
                <a:solidFill>
                  <a:srgbClr val="31935B"/>
                </a:solidFill>
                <a:latin typeface="Arial"/>
                <a:ea typeface="Arial"/>
                <a:cs typeface="Arial"/>
              </a:defRPr>
            </a:lvl3pPr>
            <a:lvl4pPr algn="r">
              <a:defRPr b="1">
                <a:solidFill>
                  <a:srgbClr val="31935B"/>
                </a:solidFill>
                <a:latin typeface="Arial"/>
                <a:ea typeface="Arial"/>
                <a:cs typeface="Arial"/>
              </a:defRPr>
            </a:lvl4pPr>
            <a:lvl5pPr algn="r">
              <a:defRPr b="1">
                <a:solidFill>
                  <a:srgbClr val="31935B"/>
                </a:solidFill>
                <a:latin typeface="Arial"/>
                <a:ea typeface="Arial"/>
                <a:cs typeface="Arial"/>
              </a:defRPr>
            </a:lvl5pPr>
            <a:lvl6pPr algn="r">
              <a:defRPr b="1">
                <a:solidFill>
                  <a:srgbClr val="31935B"/>
                </a:solidFill>
                <a:latin typeface="Arial"/>
                <a:ea typeface="Arial"/>
                <a:cs typeface="Arial"/>
              </a:defRPr>
            </a:lvl6pPr>
            <a:lvl7pPr algn="r">
              <a:defRPr b="1">
                <a:solidFill>
                  <a:srgbClr val="31935B"/>
                </a:solidFill>
                <a:latin typeface="Arial"/>
                <a:ea typeface="Arial"/>
                <a:cs typeface="Arial"/>
              </a:defRPr>
            </a:lvl7pPr>
            <a:lvl8pPr algn="r">
              <a:defRPr b="1">
                <a:solidFill>
                  <a:srgbClr val="31935B"/>
                </a:solidFill>
                <a:latin typeface="Arial"/>
                <a:ea typeface="Arial"/>
                <a:cs typeface="Arial"/>
              </a:defRPr>
            </a:lvl8pPr>
            <a:lvl9pPr algn="r">
              <a:defRPr b="1">
                <a:solidFill>
                  <a:srgbClr val="31935B"/>
                </a:solidFill>
                <a:latin typeface="Arial"/>
                <a:ea typeface="Arial"/>
                <a:cs typeface="Arial"/>
              </a:defRPr>
            </a:lvl9pPr>
          </a:lstStyle>
          <a:p xmlns:a="http://schemas.openxmlformats.org/drawingml/2006/main">
            <a:pPr algn="r">
              <a:defRPr b="1">
                <a:solidFill>
                  <a:srgbClr val="31935B"/>
                </a:solidFill>
                <a:latin typeface="Arial"/>
                <a:ea typeface="Arial"/>
                <a:cs typeface="Arial"/>
              </a:defRPr>
            </a:pPr>
            <a:r>
              <a:rPr b="1">
                <a:solidFill>
                  <a:srgbClr val="31935B"/>
                </a:solidFill>
                <a:latin typeface="Arial"/>
                <a:ea typeface="Arial"/>
                <a:cs typeface="Arial"/>
              </a:rPr>
              <a:t>28%</a:t>
            </a:r>
          </a:p>
        </p:txBody>
      </p:sp>
      <p:sp>
        <p:nvSpPr>
          <p:cNvPr id="17" name="">
            <a:extLst xmlns:a="http://schemas.openxmlformats.org/drawingml/2006/main">
              <a:ext uri="{FF2B5EF4-FFF2-40B4-BE49-F238E27FC236}">
                <a16:creationId xmlns:a16="http://schemas.microsoft.com/office/drawing/2014/main" id="{6498C219-CF39-4610-A249-E8E74E52576E}"/>
              </a:ext>
            </a:extLst>
          </p:cNvPr>
          <p:cNvSpPr>
            <a:spLocks xmlns:a="http://schemas.openxmlformats.org/drawingml/2006/main" noGrp="1"/>
          </p:cNvSpPr>
          <p:nvPr/>
        </p:nvSpPr>
        <p:spPr>
          <a:xfrm xmlns:a="http://schemas.openxmlformats.org/drawingml/2006/main">
            <a:off x="6191250" y="4467225"/>
            <a:ext cx="228600" cy="228600"/>
          </a:xfrm>
          <a:prstGeom xmlns:a="http://schemas.openxmlformats.org/drawingml/2006/main" prst="roundRect">
            <a:avLst>
              <a:gd name="adj" fmla="val 50000"/>
            </a:avLst>
          </a:prstGeom>
          <a:solidFill xmlns:a="http://schemas.openxmlformats.org/drawingml/2006/main">
            <a:srgbClr val="8051B8"/>
          </a:solidFill>
          <a:ln xmlns:a="http://schemas.openxmlformats.org/drawingml/2006/main" w="0">
            <a:noFill/>
            <a:prstDash val="solid"/>
          </a:ln>
        </p:spPr>
      </p:sp>
      <p:sp>
        <p:nvSpPr>
          <p:cNvPr id="18" name="Chi phí marketing">
            <a:extLst xmlns:a="http://schemas.openxmlformats.org/drawingml/2006/main">
              <a:ext uri="{FF2B5EF4-FFF2-40B4-BE49-F238E27FC236}">
                <a16:creationId xmlns:a16="http://schemas.microsoft.com/office/drawing/2014/main" id="{75E27027-F7A3-44F9-8A17-05AB670677EB}"/>
              </a:ext>
            </a:extLst>
          </p:cNvPr>
          <p:cNvSpPr>
            <a:spLocks xmlns:a="http://schemas.openxmlformats.org/drawingml/2006/main" noGrp="1"/>
          </p:cNvSpPr>
          <p:nvPr/>
        </p:nvSpPr>
        <p:spPr>
          <a:xfrm xmlns:a="http://schemas.openxmlformats.org/drawingml/2006/main">
            <a:off x="6610350" y="43434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Chi phí marketing</a:t>
            </a:r>
          </a:p>
        </p:txBody>
      </p:sp>
      <p:sp>
        <p:nvSpPr>
          <p:cNvPr id="19" name="16%">
            <a:extLst xmlns:a="http://schemas.openxmlformats.org/drawingml/2006/main">
              <a:ext uri="{FF2B5EF4-FFF2-40B4-BE49-F238E27FC236}">
                <a16:creationId xmlns:a16="http://schemas.microsoft.com/office/drawing/2014/main" id="{47913C22-01CA-49CB-B868-B7A18CEE41CD}"/>
              </a:ext>
            </a:extLst>
          </p:cNvPr>
          <p:cNvSpPr>
            <a:spLocks xmlns:a="http://schemas.openxmlformats.org/drawingml/2006/main" noGrp="1"/>
          </p:cNvSpPr>
          <p:nvPr/>
        </p:nvSpPr>
        <p:spPr>
          <a:xfrm xmlns:a="http://schemas.openxmlformats.org/drawingml/2006/main">
            <a:off x="10382250" y="43434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b="1">
                <a:solidFill>
                  <a:srgbClr val="8051B8"/>
                </a:solidFill>
                <a:latin typeface="Arial"/>
                <a:ea typeface="Arial"/>
                <a:cs typeface="Arial"/>
              </a:defRPr>
            </a:defPPr>
            <a:lvl1pPr algn="r">
              <a:defRPr b="1">
                <a:solidFill>
                  <a:srgbClr val="8051B8"/>
                </a:solidFill>
                <a:latin typeface="Arial"/>
                <a:ea typeface="Arial"/>
                <a:cs typeface="Arial"/>
              </a:defRPr>
            </a:lvl1pPr>
            <a:lvl2pPr algn="r">
              <a:defRPr b="1">
                <a:solidFill>
                  <a:srgbClr val="8051B8"/>
                </a:solidFill>
                <a:latin typeface="Arial"/>
                <a:ea typeface="Arial"/>
                <a:cs typeface="Arial"/>
              </a:defRPr>
            </a:lvl2pPr>
            <a:lvl3pPr algn="r">
              <a:defRPr b="1">
                <a:solidFill>
                  <a:srgbClr val="8051B8"/>
                </a:solidFill>
                <a:latin typeface="Arial"/>
                <a:ea typeface="Arial"/>
                <a:cs typeface="Arial"/>
              </a:defRPr>
            </a:lvl3pPr>
            <a:lvl4pPr algn="r">
              <a:defRPr b="1">
                <a:solidFill>
                  <a:srgbClr val="8051B8"/>
                </a:solidFill>
                <a:latin typeface="Arial"/>
                <a:ea typeface="Arial"/>
                <a:cs typeface="Arial"/>
              </a:defRPr>
            </a:lvl4pPr>
            <a:lvl5pPr algn="r">
              <a:defRPr b="1">
                <a:solidFill>
                  <a:srgbClr val="8051B8"/>
                </a:solidFill>
                <a:latin typeface="Arial"/>
                <a:ea typeface="Arial"/>
                <a:cs typeface="Arial"/>
              </a:defRPr>
            </a:lvl5pPr>
            <a:lvl6pPr algn="r">
              <a:defRPr b="1">
                <a:solidFill>
                  <a:srgbClr val="8051B8"/>
                </a:solidFill>
                <a:latin typeface="Arial"/>
                <a:ea typeface="Arial"/>
                <a:cs typeface="Arial"/>
              </a:defRPr>
            </a:lvl6pPr>
            <a:lvl7pPr algn="r">
              <a:defRPr b="1">
                <a:solidFill>
                  <a:srgbClr val="8051B8"/>
                </a:solidFill>
                <a:latin typeface="Arial"/>
                <a:ea typeface="Arial"/>
                <a:cs typeface="Arial"/>
              </a:defRPr>
            </a:lvl7pPr>
            <a:lvl8pPr algn="r">
              <a:defRPr b="1">
                <a:solidFill>
                  <a:srgbClr val="8051B8"/>
                </a:solidFill>
                <a:latin typeface="Arial"/>
                <a:ea typeface="Arial"/>
                <a:cs typeface="Arial"/>
              </a:defRPr>
            </a:lvl8pPr>
            <a:lvl9pPr algn="r">
              <a:defRPr b="1">
                <a:solidFill>
                  <a:srgbClr val="8051B8"/>
                </a:solidFill>
                <a:latin typeface="Arial"/>
                <a:ea typeface="Arial"/>
                <a:cs typeface="Arial"/>
              </a:defRPr>
            </a:lvl9pPr>
          </a:lstStyle>
          <a:p xmlns:a="http://schemas.openxmlformats.org/drawingml/2006/main">
            <a:pPr algn="r">
              <a:defRPr b="1">
                <a:solidFill>
                  <a:srgbClr val="8051B8"/>
                </a:solidFill>
                <a:latin typeface="Arial"/>
                <a:ea typeface="Arial"/>
                <a:cs typeface="Arial"/>
              </a:defRPr>
            </a:pPr>
            <a:r>
              <a:rPr b="1">
                <a:solidFill>
                  <a:srgbClr val="8051B8"/>
                </a:solidFill>
                <a:latin typeface="Arial"/>
                <a:ea typeface="Arial"/>
                <a:cs typeface="Arial"/>
              </a:rPr>
              <a:t>16%</a:t>
            </a:r>
          </a:p>
        </p:txBody>
      </p:sp>
      <p:sp>
        <p:nvSpPr>
          <p:cNvPr id="20" name="">
            <a:extLst xmlns:a="http://schemas.openxmlformats.org/drawingml/2006/main">
              <a:ext uri="{FF2B5EF4-FFF2-40B4-BE49-F238E27FC236}">
                <a16:creationId xmlns:a16="http://schemas.microsoft.com/office/drawing/2014/main" id="{46BDB273-FDB5-4EAF-8068-CFA9D7837263}"/>
              </a:ext>
            </a:extLst>
          </p:cNvPr>
          <p:cNvSpPr>
            <a:spLocks xmlns:a="http://schemas.openxmlformats.org/drawingml/2006/main" noGrp="1"/>
          </p:cNvSpPr>
          <p:nvPr/>
        </p:nvSpPr>
        <p:spPr>
          <a:xfrm xmlns:a="http://schemas.openxmlformats.org/drawingml/2006/main">
            <a:off x="6191250" y="5267325"/>
            <a:ext cx="228600" cy="228600"/>
          </a:xfrm>
          <a:prstGeom xmlns:a="http://schemas.openxmlformats.org/drawingml/2006/main" prst="roundRect">
            <a:avLst>
              <a:gd name="adj" fmla="val 50000"/>
            </a:avLst>
          </a:prstGeom>
          <a:solidFill xmlns:a="http://schemas.openxmlformats.org/drawingml/2006/main">
            <a:srgbClr val="E5902F"/>
          </a:solidFill>
          <a:ln xmlns:a="http://schemas.openxmlformats.org/drawingml/2006/main" w="0">
            <a:noFill/>
            <a:prstDash val="solid"/>
          </a:ln>
        </p:spPr>
      </p:sp>
      <p:sp>
        <p:nvSpPr>
          <p:cNvPr id="21" name="Khác">
            <a:extLst xmlns:a="http://schemas.openxmlformats.org/drawingml/2006/main">
              <a:ext uri="{FF2B5EF4-FFF2-40B4-BE49-F238E27FC236}">
                <a16:creationId xmlns:a16="http://schemas.microsoft.com/office/drawing/2014/main" id="{0FBD337B-D250-4972-9DE3-E372F129DF92}"/>
              </a:ext>
            </a:extLst>
          </p:cNvPr>
          <p:cNvSpPr>
            <a:spLocks xmlns:a="http://schemas.openxmlformats.org/drawingml/2006/main" noGrp="1"/>
          </p:cNvSpPr>
          <p:nvPr/>
        </p:nvSpPr>
        <p:spPr>
          <a:xfrm xmlns:a="http://schemas.openxmlformats.org/drawingml/2006/main">
            <a:off x="6610350" y="51435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4233B"/>
                </a:solidFill>
                <a:latin typeface="Arial"/>
                <a:ea typeface="Arial"/>
                <a:cs typeface="Arial"/>
              </a:defRPr>
            </a:defPPr>
            <a:lvl1pPr algn="l">
              <a:defRPr b="1">
                <a:solidFill>
                  <a:srgbClr val="14233B"/>
                </a:solidFill>
                <a:latin typeface="Arial"/>
                <a:ea typeface="Arial"/>
                <a:cs typeface="Arial"/>
              </a:defRPr>
            </a:lvl1pPr>
            <a:lvl2pPr algn="l">
              <a:defRPr b="1">
                <a:solidFill>
                  <a:srgbClr val="14233B"/>
                </a:solidFill>
                <a:latin typeface="Arial"/>
                <a:ea typeface="Arial"/>
                <a:cs typeface="Arial"/>
              </a:defRPr>
            </a:lvl2pPr>
            <a:lvl3pPr algn="l">
              <a:defRPr b="1">
                <a:solidFill>
                  <a:srgbClr val="14233B"/>
                </a:solidFill>
                <a:latin typeface="Arial"/>
                <a:ea typeface="Arial"/>
                <a:cs typeface="Arial"/>
              </a:defRPr>
            </a:lvl3pPr>
            <a:lvl4pPr algn="l">
              <a:defRPr b="1">
                <a:solidFill>
                  <a:srgbClr val="14233B"/>
                </a:solidFill>
                <a:latin typeface="Arial"/>
                <a:ea typeface="Arial"/>
                <a:cs typeface="Arial"/>
              </a:defRPr>
            </a:lvl4pPr>
            <a:lvl5pPr algn="l">
              <a:defRPr b="1">
                <a:solidFill>
                  <a:srgbClr val="14233B"/>
                </a:solidFill>
                <a:latin typeface="Arial"/>
                <a:ea typeface="Arial"/>
                <a:cs typeface="Arial"/>
              </a:defRPr>
            </a:lvl5pPr>
            <a:lvl6pPr algn="l">
              <a:defRPr b="1">
                <a:solidFill>
                  <a:srgbClr val="14233B"/>
                </a:solidFill>
                <a:latin typeface="Arial"/>
                <a:ea typeface="Arial"/>
                <a:cs typeface="Arial"/>
              </a:defRPr>
            </a:lvl6pPr>
            <a:lvl7pPr algn="l">
              <a:defRPr b="1">
                <a:solidFill>
                  <a:srgbClr val="14233B"/>
                </a:solidFill>
                <a:latin typeface="Arial"/>
                <a:ea typeface="Arial"/>
                <a:cs typeface="Arial"/>
              </a:defRPr>
            </a:lvl7pPr>
            <a:lvl8pPr algn="l">
              <a:defRPr b="1">
                <a:solidFill>
                  <a:srgbClr val="14233B"/>
                </a:solidFill>
                <a:latin typeface="Arial"/>
                <a:ea typeface="Arial"/>
                <a:cs typeface="Arial"/>
              </a:defRPr>
            </a:lvl8pPr>
            <a:lvl9pPr algn="l">
              <a:defRPr b="1">
                <a:solidFill>
                  <a:srgbClr val="14233B"/>
                </a:solidFill>
                <a:latin typeface="Arial"/>
                <a:ea typeface="Arial"/>
                <a:cs typeface="Arial"/>
              </a:defRPr>
            </a:lvl9pPr>
          </a:lstStyle>
          <a:p xmlns:a="http://schemas.openxmlformats.org/drawingml/2006/main">
            <a:pPr algn="l">
              <a:defRPr b="1">
                <a:solidFill>
                  <a:srgbClr val="14233B"/>
                </a:solidFill>
                <a:latin typeface="Arial"/>
                <a:ea typeface="Arial"/>
                <a:cs typeface="Arial"/>
              </a:defRPr>
            </a:pPr>
            <a:r>
              <a:rPr b="1">
                <a:solidFill>
                  <a:srgbClr val="14233B"/>
                </a:solidFill>
                <a:latin typeface="Arial"/>
                <a:ea typeface="Arial"/>
                <a:cs typeface="Arial"/>
              </a:rPr>
              <a:t>Khác</a:t>
            </a:r>
          </a:p>
        </p:txBody>
      </p:sp>
      <p:sp>
        <p:nvSpPr>
          <p:cNvPr id="22" name="10%">
            <a:extLst xmlns:a="http://schemas.openxmlformats.org/drawingml/2006/main">
              <a:ext uri="{FF2B5EF4-FFF2-40B4-BE49-F238E27FC236}">
                <a16:creationId xmlns:a16="http://schemas.microsoft.com/office/drawing/2014/main" id="{2E1DED18-D27C-4046-BE58-F955951B323D}"/>
              </a:ext>
            </a:extLst>
          </p:cNvPr>
          <p:cNvSpPr>
            <a:spLocks xmlns:a="http://schemas.openxmlformats.org/drawingml/2006/main" noGrp="1"/>
          </p:cNvSpPr>
          <p:nvPr/>
        </p:nvSpPr>
        <p:spPr>
          <a:xfrm xmlns:a="http://schemas.openxmlformats.org/drawingml/2006/main">
            <a:off x="10382250" y="51435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b="1">
                <a:solidFill>
                  <a:srgbClr val="E5902F"/>
                </a:solidFill>
                <a:latin typeface="Arial"/>
                <a:ea typeface="Arial"/>
                <a:cs typeface="Arial"/>
              </a:defRPr>
            </a:defPPr>
            <a:lvl1pPr algn="r">
              <a:defRPr b="1">
                <a:solidFill>
                  <a:srgbClr val="E5902F"/>
                </a:solidFill>
                <a:latin typeface="Arial"/>
                <a:ea typeface="Arial"/>
                <a:cs typeface="Arial"/>
              </a:defRPr>
            </a:lvl1pPr>
            <a:lvl2pPr algn="r">
              <a:defRPr b="1">
                <a:solidFill>
                  <a:srgbClr val="E5902F"/>
                </a:solidFill>
                <a:latin typeface="Arial"/>
                <a:ea typeface="Arial"/>
                <a:cs typeface="Arial"/>
              </a:defRPr>
            </a:lvl2pPr>
            <a:lvl3pPr algn="r">
              <a:defRPr b="1">
                <a:solidFill>
                  <a:srgbClr val="E5902F"/>
                </a:solidFill>
                <a:latin typeface="Arial"/>
                <a:ea typeface="Arial"/>
                <a:cs typeface="Arial"/>
              </a:defRPr>
            </a:lvl3pPr>
            <a:lvl4pPr algn="r">
              <a:defRPr b="1">
                <a:solidFill>
                  <a:srgbClr val="E5902F"/>
                </a:solidFill>
                <a:latin typeface="Arial"/>
                <a:ea typeface="Arial"/>
                <a:cs typeface="Arial"/>
              </a:defRPr>
            </a:lvl4pPr>
            <a:lvl5pPr algn="r">
              <a:defRPr b="1">
                <a:solidFill>
                  <a:srgbClr val="E5902F"/>
                </a:solidFill>
                <a:latin typeface="Arial"/>
                <a:ea typeface="Arial"/>
                <a:cs typeface="Arial"/>
              </a:defRPr>
            </a:lvl5pPr>
            <a:lvl6pPr algn="r">
              <a:defRPr b="1">
                <a:solidFill>
                  <a:srgbClr val="E5902F"/>
                </a:solidFill>
                <a:latin typeface="Arial"/>
                <a:ea typeface="Arial"/>
                <a:cs typeface="Arial"/>
              </a:defRPr>
            </a:lvl6pPr>
            <a:lvl7pPr algn="r">
              <a:defRPr b="1">
                <a:solidFill>
                  <a:srgbClr val="E5902F"/>
                </a:solidFill>
                <a:latin typeface="Arial"/>
                <a:ea typeface="Arial"/>
                <a:cs typeface="Arial"/>
              </a:defRPr>
            </a:lvl7pPr>
            <a:lvl8pPr algn="r">
              <a:defRPr b="1">
                <a:solidFill>
                  <a:srgbClr val="E5902F"/>
                </a:solidFill>
                <a:latin typeface="Arial"/>
                <a:ea typeface="Arial"/>
                <a:cs typeface="Arial"/>
              </a:defRPr>
            </a:lvl8pPr>
            <a:lvl9pPr algn="r">
              <a:defRPr b="1">
                <a:solidFill>
                  <a:srgbClr val="E5902F"/>
                </a:solidFill>
                <a:latin typeface="Arial"/>
                <a:ea typeface="Arial"/>
                <a:cs typeface="Arial"/>
              </a:defRPr>
            </a:lvl9pPr>
          </a:lstStyle>
          <a:p xmlns:a="http://schemas.openxmlformats.org/drawingml/2006/main">
            <a:pPr algn="r">
              <a:defRPr b="1">
                <a:solidFill>
                  <a:srgbClr val="E5902F"/>
                </a:solidFill>
                <a:latin typeface="Arial"/>
                <a:ea typeface="Arial"/>
                <a:cs typeface="Arial"/>
              </a:defRPr>
            </a:pPr>
            <a:r>
              <a:rPr b="1">
                <a:solidFill>
                  <a:srgbClr val="E5902F"/>
                </a:solidFill>
                <a:latin typeface="Arial"/>
                <a:ea typeface="Arial"/>
                <a:cs typeface="Arial"/>
              </a:rPr>
              <a:t>10%</a:t>
            </a:r>
          </a:p>
        </p:txBody>
      </p:sp>
      <p:sp>
        <p:nvSpPr>
          <p:cNvPr id="23" name="">
            <a:extLst xmlns:a="http://schemas.openxmlformats.org/drawingml/2006/main">
              <a:ext uri="{FF2B5EF4-FFF2-40B4-BE49-F238E27FC236}">
                <a16:creationId xmlns:a16="http://schemas.microsoft.com/office/drawing/2014/main" id="{7DFAF223-E552-4FF4-856C-C5E5A82DB977}"/>
              </a:ext>
            </a:extLst>
          </p:cNvPr>
          <p:cNvSpPr>
            <a:spLocks xmlns:a="http://schemas.openxmlformats.org/drawingml/2006/main" noGrp="1"/>
          </p:cNvSpPr>
          <p:nvPr/>
        </p:nvSpPr>
        <p:spPr>
          <a:xfrm xmlns:a="http://schemas.openxmlformats.org/drawingml/2006/main">
            <a:off x="6191250" y="5715000"/>
            <a:ext cx="5334000" cy="381000"/>
          </a:xfrm>
          <a:prstGeom xmlns:a="http://schemas.openxmlformats.org/drawingml/2006/main" prst="roundRect">
            <a:avLst>
              <a:gd name="adj" fmla="val 45000"/>
            </a:avLst>
          </a:prstGeom>
          <a:solidFill xmlns:a="http://schemas.openxmlformats.org/drawingml/2006/main">
            <a:srgbClr val="123A72"/>
          </a:solidFill>
          <a:ln xmlns:a="http://schemas.openxmlformats.org/drawingml/2006/main" w="0">
            <a:noFill/>
            <a:prstDash val="solid"/>
          </a:ln>
        </p:spPr>
      </p:sp>
      <p:sp>
        <p:nvSpPr>
          <p:cNvPr id="24" name="Cơ cấu chi phí tháng 05/2024">
            <a:extLst xmlns:a="http://schemas.openxmlformats.org/drawingml/2006/main">
              <a:ext uri="{FF2B5EF4-FFF2-40B4-BE49-F238E27FC236}">
                <a16:creationId xmlns:a16="http://schemas.microsoft.com/office/drawing/2014/main" id="{E3C59398-4A99-489D-A4DD-78FE746CF48E}"/>
              </a:ext>
            </a:extLst>
          </p:cNvPr>
          <p:cNvSpPr>
            <a:spLocks xmlns:a="http://schemas.openxmlformats.org/drawingml/2006/main" noGrp="1"/>
          </p:cNvSpPr>
          <p:nvPr/>
        </p:nvSpPr>
        <p:spPr>
          <a:xfrm xmlns:a="http://schemas.openxmlformats.org/drawingml/2006/main">
            <a:off x="6400800" y="5676900"/>
            <a:ext cx="491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FFFFFF"/>
                </a:solidFill>
                <a:latin typeface="Arial"/>
                <a:ea typeface="Arial"/>
                <a:cs typeface="Arial"/>
              </a:defRPr>
            </a:defPPr>
            <a:lvl1pPr algn="ctr">
              <a:defRPr b="1">
                <a:solidFill>
                  <a:srgbClr val="FFFFFF"/>
                </a:solidFill>
                <a:latin typeface="Arial"/>
                <a:ea typeface="Arial"/>
                <a:cs typeface="Arial"/>
              </a:defRPr>
            </a:lvl1pPr>
            <a:lvl2pPr algn="ctr">
              <a:defRPr b="1">
                <a:solidFill>
                  <a:srgbClr val="FFFFFF"/>
                </a:solidFill>
                <a:latin typeface="Arial"/>
                <a:ea typeface="Arial"/>
                <a:cs typeface="Arial"/>
              </a:defRPr>
            </a:lvl2pPr>
            <a:lvl3pPr algn="ctr">
              <a:defRPr b="1">
                <a:solidFill>
                  <a:srgbClr val="FFFFFF"/>
                </a:solidFill>
                <a:latin typeface="Arial"/>
                <a:ea typeface="Arial"/>
                <a:cs typeface="Arial"/>
              </a:defRPr>
            </a:lvl3pPr>
            <a:lvl4pPr algn="ctr">
              <a:defRPr b="1">
                <a:solidFill>
                  <a:srgbClr val="FFFFFF"/>
                </a:solidFill>
                <a:latin typeface="Arial"/>
                <a:ea typeface="Arial"/>
                <a:cs typeface="Arial"/>
              </a:defRPr>
            </a:lvl4pPr>
            <a:lvl5pPr algn="ctr">
              <a:defRPr b="1">
                <a:solidFill>
                  <a:srgbClr val="FFFFFF"/>
                </a:solidFill>
                <a:latin typeface="Arial"/>
                <a:ea typeface="Arial"/>
                <a:cs typeface="Arial"/>
              </a:defRPr>
            </a:lvl5pPr>
            <a:lvl6pPr algn="ctr">
              <a:defRPr b="1">
                <a:solidFill>
                  <a:srgbClr val="FFFFFF"/>
                </a:solidFill>
                <a:latin typeface="Arial"/>
                <a:ea typeface="Arial"/>
                <a:cs typeface="Arial"/>
              </a:defRPr>
            </a:lvl6pPr>
            <a:lvl7pPr algn="ctr">
              <a:defRPr b="1">
                <a:solidFill>
                  <a:srgbClr val="FFFFFF"/>
                </a:solidFill>
                <a:latin typeface="Arial"/>
                <a:ea typeface="Arial"/>
                <a:cs typeface="Arial"/>
              </a:defRPr>
            </a:lvl7pPr>
            <a:lvl8pPr algn="ctr">
              <a:defRPr b="1">
                <a:solidFill>
                  <a:srgbClr val="FFFFFF"/>
                </a:solidFill>
                <a:latin typeface="Arial"/>
                <a:ea typeface="Arial"/>
                <a:cs typeface="Arial"/>
              </a:defRPr>
            </a:lvl8pPr>
            <a:lvl9pPr algn="ctr">
              <a:defRPr b="1">
                <a:solidFill>
                  <a:srgbClr val="FFFFFF"/>
                </a:solidFill>
                <a:latin typeface="Arial"/>
                <a:ea typeface="Arial"/>
                <a:cs typeface="Arial"/>
              </a:defRPr>
            </a:lvl9pPr>
          </a:lstStyle>
          <a:p xmlns:a="http://schemas.openxmlformats.org/drawingml/2006/main">
            <a:pPr algn="ctr">
              <a:defRPr b="1">
                <a:solidFill>
                  <a:srgbClr val="FFFFFF"/>
                </a:solidFill>
                <a:latin typeface="Arial"/>
                <a:ea typeface="Arial"/>
                <a:cs typeface="Arial"/>
              </a:defRPr>
            </a:pPr>
            <a:r>
              <a:rPr b="1">
                <a:solidFill>
                  <a:srgbClr val="FFFFFF"/>
                </a:solidFill>
                <a:latin typeface="Arial"/>
                <a:ea typeface="Arial"/>
                <a:cs typeface="Arial"/>
              </a:rPr>
              <a:t>Cơ cấu chi phí tháng 05/2024</a:t>
            </a:r>
          </a:p>
        </p:txBody>
      </p:sp>
    </p:spTree>
    <p:extLst>
      <p:ext uri="{BB962C8B-B14F-4D97-AF65-F5344CB8AC3E}">
        <p14:creationId xmlns:p14="http://schemas.microsoft.com/office/powerpoint/2010/main" val="8050082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663864A-A662-4171-B9FC-939CE23D58A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A72"/>
          </a:solidFill>
          <a:ln xmlns:a="http://schemas.openxmlformats.org/drawingml/2006/main" w="0">
            <a:noFill/>
            <a:prstDash val="solid"/>
          </a:ln>
        </p:spPr>
      </p:sp>
      <p:sp>
        <p:nvSpPr>
          <p:cNvPr id="2" name="PayKX  |  Báo cáo lỗ lãi">
            <a:extLst xmlns:a="http://schemas.openxmlformats.org/drawingml/2006/main">
              <a:ext uri="{FF2B5EF4-FFF2-40B4-BE49-F238E27FC236}">
                <a16:creationId xmlns:a16="http://schemas.microsoft.com/office/drawing/2014/main" id="{16710974-2155-406A-B4BA-A09E05F3F902}"/>
              </a:ext>
            </a:extLst>
          </p:cNvPr>
          <p:cNvSpPr>
            <a:spLocks xmlns:a="http://schemas.openxmlformats.org/drawingml/2006/main" noGrp="1"/>
          </p:cNvSpPr>
          <p:nvPr/>
        </p:nvSpPr>
        <p:spPr>
          <a:xfrm xmlns:a="http://schemas.openxmlformats.org/drawingml/2006/main">
            <a:off x="533400" y="323850"/>
            <a:ext cx="657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23A72"/>
                </a:solidFill>
                <a:latin typeface="Arial"/>
                <a:ea typeface="Arial"/>
                <a:cs typeface="Arial"/>
              </a:defRPr>
            </a:defPPr>
            <a:lvl1pPr algn="l">
              <a:defRPr b="1">
                <a:solidFill>
                  <a:srgbClr val="123A72"/>
                </a:solidFill>
                <a:latin typeface="Arial"/>
                <a:ea typeface="Arial"/>
                <a:cs typeface="Arial"/>
              </a:defRPr>
            </a:lvl1pPr>
            <a:lvl2pPr algn="l">
              <a:defRPr b="1">
                <a:solidFill>
                  <a:srgbClr val="123A72"/>
                </a:solidFill>
                <a:latin typeface="Arial"/>
                <a:ea typeface="Arial"/>
                <a:cs typeface="Arial"/>
              </a:defRPr>
            </a:lvl2pPr>
            <a:lvl3pPr algn="l">
              <a:defRPr b="1">
                <a:solidFill>
                  <a:srgbClr val="123A72"/>
                </a:solidFill>
                <a:latin typeface="Arial"/>
                <a:ea typeface="Arial"/>
                <a:cs typeface="Arial"/>
              </a:defRPr>
            </a:lvl3pPr>
            <a:lvl4pPr algn="l">
              <a:defRPr b="1">
                <a:solidFill>
                  <a:srgbClr val="123A72"/>
                </a:solidFill>
                <a:latin typeface="Arial"/>
                <a:ea typeface="Arial"/>
                <a:cs typeface="Arial"/>
              </a:defRPr>
            </a:lvl4pPr>
            <a:lvl5pPr algn="l">
              <a:defRPr b="1">
                <a:solidFill>
                  <a:srgbClr val="123A72"/>
                </a:solidFill>
                <a:latin typeface="Arial"/>
                <a:ea typeface="Arial"/>
                <a:cs typeface="Arial"/>
              </a:defRPr>
            </a:lvl5pPr>
            <a:lvl6pPr algn="l">
              <a:defRPr b="1">
                <a:solidFill>
                  <a:srgbClr val="123A72"/>
                </a:solidFill>
                <a:latin typeface="Arial"/>
                <a:ea typeface="Arial"/>
                <a:cs typeface="Arial"/>
              </a:defRPr>
            </a:lvl6pPr>
            <a:lvl7pPr algn="l">
              <a:defRPr b="1">
                <a:solidFill>
                  <a:srgbClr val="123A72"/>
                </a:solidFill>
                <a:latin typeface="Arial"/>
                <a:ea typeface="Arial"/>
                <a:cs typeface="Arial"/>
              </a:defRPr>
            </a:lvl7pPr>
            <a:lvl8pPr algn="l">
              <a:defRPr b="1">
                <a:solidFill>
                  <a:srgbClr val="123A72"/>
                </a:solidFill>
                <a:latin typeface="Arial"/>
                <a:ea typeface="Arial"/>
                <a:cs typeface="Arial"/>
              </a:defRPr>
            </a:lvl8pPr>
            <a:lvl9pPr algn="l">
              <a:defRPr b="1">
                <a:solidFill>
                  <a:srgbClr val="123A72"/>
                </a:solidFill>
                <a:latin typeface="Arial"/>
                <a:ea typeface="Arial"/>
                <a:cs typeface="Arial"/>
              </a:defRPr>
            </a:lvl9pPr>
          </a:lstStyle>
          <a:p xmlns:a="http://schemas.openxmlformats.org/drawingml/2006/main">
            <a:pPr algn="l">
              <a:defRPr b="1">
                <a:solidFill>
                  <a:srgbClr val="123A72"/>
                </a:solidFill>
                <a:latin typeface="Arial"/>
                <a:ea typeface="Arial"/>
                <a:cs typeface="Arial"/>
              </a:defRPr>
            </a:pPr>
            <a:r>
              <a:rPr b="1">
                <a:solidFill>
                  <a:srgbClr val="123A72"/>
                </a:solidFill>
                <a:latin typeface="Arial"/>
                <a:ea typeface="Arial"/>
                <a:cs typeface="Arial"/>
              </a:rPr>
              <a:t>PayKX  |  Báo cáo lỗ lãi</a:t>
            </a:r>
          </a:p>
        </p:txBody>
      </p:sp>
      <p:sp>
        <p:nvSpPr>
          <p:cNvPr id="3" name="Tháng 05/2024     •     03">
            <a:extLst xmlns:a="http://schemas.openxmlformats.org/drawingml/2006/main">
              <a:ext uri="{FF2B5EF4-FFF2-40B4-BE49-F238E27FC236}">
                <a16:creationId xmlns:a16="http://schemas.microsoft.com/office/drawing/2014/main" id="{B0C2F9B6-6E70-4771-A578-A7186D5AF551}"/>
              </a:ext>
            </a:extLst>
          </p:cNvPr>
          <p:cNvSpPr>
            <a:spLocks xmlns:a="http://schemas.openxmlformats.org/drawingml/2006/main" noGrp="1"/>
          </p:cNvSpPr>
          <p:nvPr/>
        </p:nvSpPr>
        <p:spPr>
          <a:xfrm xmlns:a="http://schemas.openxmlformats.org/drawingml/2006/main">
            <a:off x="8763000" y="32385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b="0">
                <a:solidFill>
                  <a:srgbClr val="5D6B80"/>
                </a:solidFill>
                <a:latin typeface="Arial"/>
                <a:ea typeface="Arial"/>
                <a:cs typeface="Arial"/>
              </a:defRPr>
            </a:defPPr>
            <a:lvl1pPr algn="r">
              <a:defRPr b="0">
                <a:solidFill>
                  <a:srgbClr val="5D6B80"/>
                </a:solidFill>
                <a:latin typeface="Arial"/>
                <a:ea typeface="Arial"/>
                <a:cs typeface="Arial"/>
              </a:defRPr>
            </a:lvl1pPr>
            <a:lvl2pPr algn="r">
              <a:defRPr b="0">
                <a:solidFill>
                  <a:srgbClr val="5D6B80"/>
                </a:solidFill>
                <a:latin typeface="Arial"/>
                <a:ea typeface="Arial"/>
                <a:cs typeface="Arial"/>
              </a:defRPr>
            </a:lvl2pPr>
            <a:lvl3pPr algn="r">
              <a:defRPr b="0">
                <a:solidFill>
                  <a:srgbClr val="5D6B80"/>
                </a:solidFill>
                <a:latin typeface="Arial"/>
                <a:ea typeface="Arial"/>
                <a:cs typeface="Arial"/>
              </a:defRPr>
            </a:lvl3pPr>
            <a:lvl4pPr algn="r">
              <a:defRPr b="0">
                <a:solidFill>
                  <a:srgbClr val="5D6B80"/>
                </a:solidFill>
                <a:latin typeface="Arial"/>
                <a:ea typeface="Arial"/>
                <a:cs typeface="Arial"/>
              </a:defRPr>
            </a:lvl4pPr>
            <a:lvl5pPr algn="r">
              <a:defRPr b="0">
                <a:solidFill>
                  <a:srgbClr val="5D6B80"/>
                </a:solidFill>
                <a:latin typeface="Arial"/>
                <a:ea typeface="Arial"/>
                <a:cs typeface="Arial"/>
              </a:defRPr>
            </a:lvl5pPr>
            <a:lvl6pPr algn="r">
              <a:defRPr b="0">
                <a:solidFill>
                  <a:srgbClr val="5D6B80"/>
                </a:solidFill>
                <a:latin typeface="Arial"/>
                <a:ea typeface="Arial"/>
                <a:cs typeface="Arial"/>
              </a:defRPr>
            </a:lvl6pPr>
            <a:lvl7pPr algn="r">
              <a:defRPr b="0">
                <a:solidFill>
                  <a:srgbClr val="5D6B80"/>
                </a:solidFill>
                <a:latin typeface="Arial"/>
                <a:ea typeface="Arial"/>
                <a:cs typeface="Arial"/>
              </a:defRPr>
            </a:lvl7pPr>
            <a:lvl8pPr algn="r">
              <a:defRPr b="0">
                <a:solidFill>
                  <a:srgbClr val="5D6B80"/>
                </a:solidFill>
                <a:latin typeface="Arial"/>
                <a:ea typeface="Arial"/>
                <a:cs typeface="Arial"/>
              </a:defRPr>
            </a:lvl8pPr>
            <a:lvl9pPr algn="r">
              <a:defRPr b="0">
                <a:solidFill>
                  <a:srgbClr val="5D6B80"/>
                </a:solidFill>
                <a:latin typeface="Arial"/>
                <a:ea typeface="Arial"/>
                <a:cs typeface="Arial"/>
              </a:defRPr>
            </a:lvl9pPr>
          </a:lstStyle>
          <a:p xmlns:a="http://schemas.openxmlformats.org/drawingml/2006/main">
            <a:pPr algn="r">
              <a:defRPr b="0">
                <a:solidFill>
                  <a:srgbClr val="5D6B80"/>
                </a:solidFill>
                <a:latin typeface="Arial"/>
                <a:ea typeface="Arial"/>
                <a:cs typeface="Arial"/>
              </a:defRPr>
            </a:pPr>
            <a:r>
              <a:rPr b="0">
                <a:solidFill>
                  <a:srgbClr val="5D6B80"/>
                </a:solidFill>
                <a:latin typeface="Arial"/>
                <a:ea typeface="Arial"/>
                <a:cs typeface="Arial"/>
              </a:rPr>
              <a:t>Tháng 05/2024     •     03</a:t>
            </a:r>
          </a:p>
        </p:txBody>
      </p:sp>
      <p:sp>
        <p:nvSpPr>
          <p:cNvPr id="4" name="">
            <a:extLst xmlns:a="http://schemas.openxmlformats.org/drawingml/2006/main">
              <a:ext uri="{FF2B5EF4-FFF2-40B4-BE49-F238E27FC236}">
                <a16:creationId xmlns:a16="http://schemas.microsoft.com/office/drawing/2014/main" id="{179EEA01-A92A-4B06-8B24-A7F5E8184C0F}"/>
              </a:ext>
            </a:extLst>
          </p:cNvPr>
          <p:cNvSpPr>
            <a:spLocks xmlns:a="http://schemas.openxmlformats.org/drawingml/2006/main" noGrp="1"/>
          </p:cNvSpPr>
          <p:nvPr/>
        </p:nvSpPr>
        <p:spPr>
          <a:xfrm xmlns:a="http://schemas.openxmlformats.org/drawingml/2006/main">
            <a:off x="533400" y="895350"/>
            <a:ext cx="11125200" cy="19050"/>
          </a:xfrm>
          <a:prstGeom xmlns:a="http://schemas.openxmlformats.org/drawingml/2006/main" prst="rect">
            <a:avLst/>
          </a:prstGeom>
          <a:solidFill xmlns:a="http://schemas.openxmlformats.org/drawingml/2006/main">
            <a:srgbClr val="D9E2EF"/>
          </a:solidFill>
          <a:ln xmlns:a="http://schemas.openxmlformats.org/drawingml/2006/main" w="0">
            <a:noFill/>
            <a:prstDash val="solid"/>
          </a:ln>
        </p:spPr>
      </p:sp>
      <p:sp>
        <p:nvSpPr>
          <p:cNvPr id="5" name="Lợi nhuận sau thuế đạt 2,89 ">
            <a:extLst xmlns:a="http://schemas.openxmlformats.org/drawingml/2006/main">
              <a:ext uri="{FF2B5EF4-FFF2-40B4-BE49-F238E27FC236}">
                <a16:creationId xmlns:a16="http://schemas.microsoft.com/office/drawing/2014/main" id="{1528E9BF-F985-4D87-AC87-57102ACB3D8D}"/>
              </a:ext>
            </a:extLst>
          </p:cNvPr>
          <p:cNvSpPr>
            <a:spLocks xmlns:a="http://schemas.openxmlformats.org/drawingml/2006/main" noGrp="1"/>
          </p:cNvSpPr>
          <p:nvPr/>
        </p:nvSpPr>
        <p:spPr>
          <a:xfrm xmlns:a="http://schemas.openxmlformats.org/drawingml/2006/main">
            <a:off x="533400" y="112395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1">
                <a:solidFill>
                  <a:srgbClr val="123A72"/>
                </a:solidFill>
                <a:latin typeface="Arial"/>
                <a:ea typeface="Arial"/>
                <a:cs typeface="Arial"/>
              </a:defRPr>
            </a:defPPr>
            <a:lvl1pPr algn="l">
              <a:defRPr b="1">
                <a:solidFill>
                  <a:srgbClr val="123A72"/>
                </a:solidFill>
                <a:latin typeface="Arial"/>
                <a:ea typeface="Arial"/>
                <a:cs typeface="Arial"/>
              </a:defRPr>
            </a:lvl1pPr>
            <a:lvl2pPr algn="l">
              <a:defRPr b="1">
                <a:solidFill>
                  <a:srgbClr val="123A72"/>
                </a:solidFill>
                <a:latin typeface="Arial"/>
                <a:ea typeface="Arial"/>
                <a:cs typeface="Arial"/>
              </a:defRPr>
            </a:lvl2pPr>
            <a:lvl3pPr algn="l">
              <a:defRPr b="1">
                <a:solidFill>
                  <a:srgbClr val="123A72"/>
                </a:solidFill>
                <a:latin typeface="Arial"/>
                <a:ea typeface="Arial"/>
                <a:cs typeface="Arial"/>
              </a:defRPr>
            </a:lvl3pPr>
            <a:lvl4pPr algn="l">
              <a:defRPr b="1">
                <a:solidFill>
                  <a:srgbClr val="123A72"/>
                </a:solidFill>
                <a:latin typeface="Arial"/>
                <a:ea typeface="Arial"/>
                <a:cs typeface="Arial"/>
              </a:defRPr>
            </a:lvl4pPr>
            <a:lvl5pPr algn="l">
              <a:defRPr b="1">
                <a:solidFill>
                  <a:srgbClr val="123A72"/>
                </a:solidFill>
                <a:latin typeface="Arial"/>
                <a:ea typeface="Arial"/>
                <a:cs typeface="Arial"/>
              </a:defRPr>
            </a:lvl5pPr>
            <a:lvl6pPr algn="l">
              <a:defRPr b="1">
                <a:solidFill>
                  <a:srgbClr val="123A72"/>
                </a:solidFill>
                <a:latin typeface="Arial"/>
                <a:ea typeface="Arial"/>
                <a:cs typeface="Arial"/>
              </a:defRPr>
            </a:lvl6pPr>
            <a:lvl7pPr algn="l">
              <a:defRPr b="1">
                <a:solidFill>
                  <a:srgbClr val="123A72"/>
                </a:solidFill>
                <a:latin typeface="Arial"/>
                <a:ea typeface="Arial"/>
                <a:cs typeface="Arial"/>
              </a:defRPr>
            </a:lvl7pPr>
            <a:lvl8pPr algn="l">
              <a:defRPr b="1">
                <a:solidFill>
                  <a:srgbClr val="123A72"/>
                </a:solidFill>
                <a:latin typeface="Arial"/>
                <a:ea typeface="Arial"/>
                <a:cs typeface="Arial"/>
              </a:defRPr>
            </a:lvl8pPr>
            <a:lvl9pPr algn="l">
              <a:defRPr b="1">
                <a:solidFill>
                  <a:srgbClr val="123A72"/>
                </a:solidFill>
                <a:latin typeface="Arial"/>
                <a:ea typeface="Arial"/>
                <a:cs typeface="Arial"/>
              </a:defRPr>
            </a:lvl9pPr>
          </a:lstStyle>
          <a:p xmlns:a="http://schemas.openxmlformats.org/drawingml/2006/main">
            <a:pPr algn="l">
              <a:defRPr b="1">
                <a:solidFill>
                  <a:srgbClr val="123A72"/>
                </a:solidFill>
                <a:latin typeface="Arial"/>
                <a:ea typeface="Arial"/>
                <a:cs typeface="Arial"/>
              </a:defRPr>
            </a:pPr>
            <a:r>
              <a:rPr b="1">
                <a:solidFill>
                  <a:srgbClr val="123A72"/>
                </a:solidFill>
                <a:latin typeface="Arial"/>
                <a:ea typeface="Arial"/>
                <a:cs typeface="Arial"/>
              </a:rPr>
              <a:t>Lợi nhuận sau thuế đạt 2,89 tỷ đồng</a:t>
            </a:r>
          </a:p>
        </p:txBody>
      </p:sp>
      <p:sp>
        <p:nvSpPr>
          <p:cNvPr id="6" name="Tăng 31,2% so với tháng 4">
            <a:extLst xmlns:a="http://schemas.openxmlformats.org/drawingml/2006/main">
              <a:ext uri="{FF2B5EF4-FFF2-40B4-BE49-F238E27FC236}">
                <a16:creationId xmlns:a16="http://schemas.microsoft.com/office/drawing/2014/main" id="{4D6D2FC3-DA57-4269-8397-81954C6B8111}"/>
              </a:ext>
            </a:extLst>
          </p:cNvPr>
          <p:cNvSpPr>
            <a:spLocks xmlns:a="http://schemas.openxmlformats.org/drawingml/2006/main" noGrp="1"/>
          </p:cNvSpPr>
          <p:nvPr/>
        </p:nvSpPr>
        <p:spPr>
          <a:xfrm xmlns:a="http://schemas.openxmlformats.org/drawingml/2006/main">
            <a:off x="533400" y="1809750"/>
            <a:ext cx="1112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b="0">
                <a:solidFill>
                  <a:srgbClr val="5D6B80"/>
                </a:solidFill>
                <a:latin typeface="Arial"/>
                <a:ea typeface="Arial"/>
                <a:cs typeface="Arial"/>
              </a:defRPr>
            </a:defPPr>
            <a:lvl1pPr algn="l">
              <a:defRPr b="0">
                <a:solidFill>
                  <a:srgbClr val="5D6B80"/>
                </a:solidFill>
                <a:latin typeface="Arial"/>
                <a:ea typeface="Arial"/>
                <a:cs typeface="Arial"/>
              </a:defRPr>
            </a:lvl1pPr>
            <a:lvl2pPr algn="l">
              <a:defRPr b="0">
                <a:solidFill>
                  <a:srgbClr val="5D6B80"/>
                </a:solidFill>
                <a:latin typeface="Arial"/>
                <a:ea typeface="Arial"/>
                <a:cs typeface="Arial"/>
              </a:defRPr>
            </a:lvl2pPr>
            <a:lvl3pPr algn="l">
              <a:defRPr b="0">
                <a:solidFill>
                  <a:srgbClr val="5D6B80"/>
                </a:solidFill>
                <a:latin typeface="Arial"/>
                <a:ea typeface="Arial"/>
                <a:cs typeface="Arial"/>
              </a:defRPr>
            </a:lvl3pPr>
            <a:lvl4pPr algn="l">
              <a:defRPr b="0">
                <a:solidFill>
                  <a:srgbClr val="5D6B80"/>
                </a:solidFill>
                <a:latin typeface="Arial"/>
                <a:ea typeface="Arial"/>
                <a:cs typeface="Arial"/>
              </a:defRPr>
            </a:lvl4pPr>
            <a:lvl5pPr algn="l">
              <a:defRPr b="0">
                <a:solidFill>
                  <a:srgbClr val="5D6B80"/>
                </a:solidFill>
                <a:latin typeface="Arial"/>
                <a:ea typeface="Arial"/>
                <a:cs typeface="Arial"/>
              </a:defRPr>
            </a:lvl5pPr>
            <a:lvl6pPr algn="l">
              <a:defRPr b="0">
                <a:solidFill>
                  <a:srgbClr val="5D6B80"/>
                </a:solidFill>
                <a:latin typeface="Arial"/>
                <a:ea typeface="Arial"/>
                <a:cs typeface="Arial"/>
              </a:defRPr>
            </a:lvl6pPr>
            <a:lvl7pPr algn="l">
              <a:defRPr b="0">
                <a:solidFill>
                  <a:srgbClr val="5D6B80"/>
                </a:solidFill>
                <a:latin typeface="Arial"/>
                <a:ea typeface="Arial"/>
                <a:cs typeface="Arial"/>
              </a:defRPr>
            </a:lvl7pPr>
            <a:lvl8pPr algn="l">
              <a:defRPr b="0">
                <a:solidFill>
                  <a:srgbClr val="5D6B80"/>
                </a:solidFill>
                <a:latin typeface="Arial"/>
                <a:ea typeface="Arial"/>
                <a:cs typeface="Arial"/>
              </a:defRPr>
            </a:lvl8pPr>
            <a:lvl9pPr algn="l">
              <a:defRPr b="0">
                <a:solidFill>
                  <a:srgbClr val="5D6B80"/>
                </a:solidFill>
                <a:latin typeface="Arial"/>
                <a:ea typeface="Arial"/>
                <a:cs typeface="Arial"/>
              </a:defRPr>
            </a:lvl9pPr>
          </a:lstStyle>
          <a:p xmlns:a="http://schemas.openxmlformats.org/drawingml/2006/main">
            <a:pPr algn="l">
              <a:defRPr b="0">
                <a:solidFill>
                  <a:srgbClr val="5D6B80"/>
                </a:solidFill>
                <a:latin typeface="Arial"/>
                <a:ea typeface="Arial"/>
                <a:cs typeface="Arial"/>
              </a:defRPr>
            </a:pPr>
            <a:r>
              <a:rPr b="0">
                <a:solidFill>
                  <a:srgbClr val="5D6B80"/>
                </a:solidFill>
                <a:latin typeface="Arial"/>
                <a:ea typeface="Arial"/>
                <a:cs typeface="Arial"/>
              </a:rPr>
              <a:t>Tăng 31,2% so với tháng 4</a:t>
            </a:r>
          </a:p>
        </p:txBody>
      </p:sp>
      <p:sp>
        <p:nvSpPr>
          <p:cNvPr id="7" name="">
            <a:extLst xmlns:a="http://schemas.openxmlformats.org/drawingml/2006/main">
              <a:ext uri="{FF2B5EF4-FFF2-40B4-BE49-F238E27FC236}">
                <a16:creationId xmlns:a16="http://schemas.microsoft.com/office/drawing/2014/main" id="{08E61814-DB97-4115-8360-232CA64901B2}"/>
              </a:ext>
            </a:extLst>
          </p:cNvPr>
          <p:cNvSpPr>
            <a:spLocks xmlns:a="http://schemas.openxmlformats.org/drawingml/2006/main" noGrp="1"/>
          </p:cNvSpPr>
          <p:nvPr/>
        </p:nvSpPr>
        <p:spPr>
          <a:xfrm xmlns:a="http://schemas.openxmlformats.org/drawingml/2006/main">
            <a:off x="533400" y="2724150"/>
            <a:ext cx="2552700" cy="2171700"/>
          </a:xfrm>
          <a:prstGeom xmlns:a="http://schemas.openxmlformats.org/drawingml/2006/main" prst="roundRect">
            <a:avLst>
              <a:gd name="adj" fmla="val 9649"/>
            </a:avLst>
          </a:prstGeom>
          <a:solidFill xmlns:a="http://schemas.openxmlformats.org/drawingml/2006/main">
            <a:srgbClr val="EEF4FC"/>
          </a:solidFill>
          <a:ln xmlns:a="http://schemas.openxmlformats.org/drawingml/2006/main" w="0">
            <a:noFill/>
            <a:prstDash val="solid"/>
          </a:ln>
        </p:spPr>
      </p:sp>
      <p:sp>
        <p:nvSpPr>
          <p:cNvPr id="8" name="12,45">
            <a:extLst xmlns:a="http://schemas.openxmlformats.org/drawingml/2006/main">
              <a:ext uri="{FF2B5EF4-FFF2-40B4-BE49-F238E27FC236}">
                <a16:creationId xmlns:a16="http://schemas.microsoft.com/office/drawing/2014/main" id="{86F14A42-854D-41E2-8F0D-54290C22DD87}"/>
              </a:ext>
            </a:extLst>
          </p:cNvPr>
          <p:cNvSpPr>
            <a:spLocks xmlns:a="http://schemas.openxmlformats.org/drawingml/2006/main" noGrp="1"/>
          </p:cNvSpPr>
          <p:nvPr/>
        </p:nvSpPr>
        <p:spPr>
          <a:xfrm xmlns:a="http://schemas.openxmlformats.org/drawingml/2006/main">
            <a:off x="723900" y="297180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2469C8"/>
                </a:solidFill>
                <a:latin typeface="Arial"/>
                <a:ea typeface="Arial"/>
                <a:cs typeface="Arial"/>
              </a:defRPr>
            </a:defPPr>
            <a:lvl1pPr algn="ctr">
              <a:defRPr b="1">
                <a:solidFill>
                  <a:srgbClr val="2469C8"/>
                </a:solidFill>
                <a:latin typeface="Arial"/>
                <a:ea typeface="Arial"/>
                <a:cs typeface="Arial"/>
              </a:defRPr>
            </a:lvl1pPr>
            <a:lvl2pPr algn="ctr">
              <a:defRPr b="1">
                <a:solidFill>
                  <a:srgbClr val="2469C8"/>
                </a:solidFill>
                <a:latin typeface="Arial"/>
                <a:ea typeface="Arial"/>
                <a:cs typeface="Arial"/>
              </a:defRPr>
            </a:lvl2pPr>
            <a:lvl3pPr algn="ctr">
              <a:defRPr b="1">
                <a:solidFill>
                  <a:srgbClr val="2469C8"/>
                </a:solidFill>
                <a:latin typeface="Arial"/>
                <a:ea typeface="Arial"/>
                <a:cs typeface="Arial"/>
              </a:defRPr>
            </a:lvl3pPr>
            <a:lvl4pPr algn="ctr">
              <a:defRPr b="1">
                <a:solidFill>
                  <a:srgbClr val="2469C8"/>
                </a:solidFill>
                <a:latin typeface="Arial"/>
                <a:ea typeface="Arial"/>
                <a:cs typeface="Arial"/>
              </a:defRPr>
            </a:lvl4pPr>
            <a:lvl5pPr algn="ctr">
              <a:defRPr b="1">
                <a:solidFill>
                  <a:srgbClr val="2469C8"/>
                </a:solidFill>
                <a:latin typeface="Arial"/>
                <a:ea typeface="Arial"/>
                <a:cs typeface="Arial"/>
              </a:defRPr>
            </a:lvl5pPr>
            <a:lvl6pPr algn="ctr">
              <a:defRPr b="1">
                <a:solidFill>
                  <a:srgbClr val="2469C8"/>
                </a:solidFill>
                <a:latin typeface="Arial"/>
                <a:ea typeface="Arial"/>
                <a:cs typeface="Arial"/>
              </a:defRPr>
            </a:lvl6pPr>
            <a:lvl7pPr algn="ctr">
              <a:defRPr b="1">
                <a:solidFill>
                  <a:srgbClr val="2469C8"/>
                </a:solidFill>
                <a:latin typeface="Arial"/>
                <a:ea typeface="Arial"/>
                <a:cs typeface="Arial"/>
              </a:defRPr>
            </a:lvl7pPr>
            <a:lvl8pPr algn="ctr">
              <a:defRPr b="1">
                <a:solidFill>
                  <a:srgbClr val="2469C8"/>
                </a:solidFill>
                <a:latin typeface="Arial"/>
                <a:ea typeface="Arial"/>
                <a:cs typeface="Arial"/>
              </a:defRPr>
            </a:lvl8pPr>
            <a:lvl9pPr algn="ctr">
              <a:defRPr b="1">
                <a:solidFill>
                  <a:srgbClr val="2469C8"/>
                </a:solidFill>
                <a:latin typeface="Arial"/>
                <a:ea typeface="Arial"/>
                <a:cs typeface="Arial"/>
              </a:defRPr>
            </a:lvl9pPr>
          </a:lstStyle>
          <a:p xmlns:a="http://schemas.openxmlformats.org/drawingml/2006/main">
            <a:pPr algn="ctr">
              <a:defRPr b="1">
                <a:solidFill>
                  <a:srgbClr val="2469C8"/>
                </a:solidFill>
                <a:latin typeface="Arial"/>
                <a:ea typeface="Arial"/>
                <a:cs typeface="Arial"/>
              </a:defRPr>
            </a:pPr>
            <a:r>
              <a:rPr b="1">
                <a:solidFill>
                  <a:srgbClr val="2469C8"/>
                </a:solidFill>
                <a:latin typeface="Arial"/>
                <a:ea typeface="Arial"/>
                <a:cs typeface="Arial"/>
              </a:rPr>
              <a:t>12,45</a:t>
            </a:r>
          </a:p>
        </p:txBody>
      </p:sp>
      <p:sp>
        <p:nvSpPr>
          <p:cNvPr id="9" name="TỶ VND">
            <a:extLst xmlns:a="http://schemas.openxmlformats.org/drawingml/2006/main">
              <a:ext uri="{FF2B5EF4-FFF2-40B4-BE49-F238E27FC236}">
                <a16:creationId xmlns:a16="http://schemas.microsoft.com/office/drawing/2014/main" id="{AB3E6A5D-DFFE-49C3-93E2-0A02E0A48DBA}"/>
              </a:ext>
            </a:extLst>
          </p:cNvPr>
          <p:cNvSpPr>
            <a:spLocks xmlns:a="http://schemas.openxmlformats.org/drawingml/2006/main" noGrp="1"/>
          </p:cNvSpPr>
          <p:nvPr/>
        </p:nvSpPr>
        <p:spPr>
          <a:xfrm xmlns:a="http://schemas.openxmlformats.org/drawingml/2006/main">
            <a:off x="723900" y="360045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TỶ VND</a:t>
            </a:r>
          </a:p>
        </p:txBody>
      </p:sp>
      <p:sp>
        <p:nvSpPr>
          <p:cNvPr id="10" name="Doanh thu thuần">
            <a:extLst xmlns:a="http://schemas.openxmlformats.org/drawingml/2006/main">
              <a:ext uri="{FF2B5EF4-FFF2-40B4-BE49-F238E27FC236}">
                <a16:creationId xmlns:a16="http://schemas.microsoft.com/office/drawing/2014/main" id="{DD964268-1F1B-49A6-844B-2150E54753DD}"/>
              </a:ext>
            </a:extLst>
          </p:cNvPr>
          <p:cNvSpPr>
            <a:spLocks xmlns:a="http://schemas.openxmlformats.org/drawingml/2006/main" noGrp="1"/>
          </p:cNvSpPr>
          <p:nvPr/>
        </p:nvSpPr>
        <p:spPr>
          <a:xfrm xmlns:a="http://schemas.openxmlformats.org/drawingml/2006/main">
            <a:off x="666750" y="40576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4233B"/>
                </a:solidFill>
                <a:latin typeface="Arial"/>
                <a:ea typeface="Arial"/>
                <a:cs typeface="Arial"/>
              </a:defRPr>
            </a:defPPr>
            <a:lvl1pPr algn="ctr">
              <a:defRPr b="1">
                <a:solidFill>
                  <a:srgbClr val="14233B"/>
                </a:solidFill>
                <a:latin typeface="Arial"/>
                <a:ea typeface="Arial"/>
                <a:cs typeface="Arial"/>
              </a:defRPr>
            </a:lvl1pPr>
            <a:lvl2pPr algn="ctr">
              <a:defRPr b="1">
                <a:solidFill>
                  <a:srgbClr val="14233B"/>
                </a:solidFill>
                <a:latin typeface="Arial"/>
                <a:ea typeface="Arial"/>
                <a:cs typeface="Arial"/>
              </a:defRPr>
            </a:lvl2pPr>
            <a:lvl3pPr algn="ctr">
              <a:defRPr b="1">
                <a:solidFill>
                  <a:srgbClr val="14233B"/>
                </a:solidFill>
                <a:latin typeface="Arial"/>
                <a:ea typeface="Arial"/>
                <a:cs typeface="Arial"/>
              </a:defRPr>
            </a:lvl3pPr>
            <a:lvl4pPr algn="ctr">
              <a:defRPr b="1">
                <a:solidFill>
                  <a:srgbClr val="14233B"/>
                </a:solidFill>
                <a:latin typeface="Arial"/>
                <a:ea typeface="Arial"/>
                <a:cs typeface="Arial"/>
              </a:defRPr>
            </a:lvl4pPr>
            <a:lvl5pPr algn="ctr">
              <a:defRPr b="1">
                <a:solidFill>
                  <a:srgbClr val="14233B"/>
                </a:solidFill>
                <a:latin typeface="Arial"/>
                <a:ea typeface="Arial"/>
                <a:cs typeface="Arial"/>
              </a:defRPr>
            </a:lvl5pPr>
            <a:lvl6pPr algn="ctr">
              <a:defRPr b="1">
                <a:solidFill>
                  <a:srgbClr val="14233B"/>
                </a:solidFill>
                <a:latin typeface="Arial"/>
                <a:ea typeface="Arial"/>
                <a:cs typeface="Arial"/>
              </a:defRPr>
            </a:lvl6pPr>
            <a:lvl7pPr algn="ctr">
              <a:defRPr b="1">
                <a:solidFill>
                  <a:srgbClr val="14233B"/>
                </a:solidFill>
                <a:latin typeface="Arial"/>
                <a:ea typeface="Arial"/>
                <a:cs typeface="Arial"/>
              </a:defRPr>
            </a:lvl7pPr>
            <a:lvl8pPr algn="ctr">
              <a:defRPr b="1">
                <a:solidFill>
                  <a:srgbClr val="14233B"/>
                </a:solidFill>
                <a:latin typeface="Arial"/>
                <a:ea typeface="Arial"/>
                <a:cs typeface="Arial"/>
              </a:defRPr>
            </a:lvl8pPr>
            <a:lvl9pPr algn="ctr">
              <a:defRPr b="1">
                <a:solidFill>
                  <a:srgbClr val="14233B"/>
                </a:solidFill>
                <a:latin typeface="Arial"/>
                <a:ea typeface="Arial"/>
                <a:cs typeface="Arial"/>
              </a:defRPr>
            </a:lvl9pPr>
          </a:lstStyle>
          <a:p xmlns:a="http://schemas.openxmlformats.org/drawingml/2006/main">
            <a:pPr algn="ctr">
              <a:defRPr b="1">
                <a:solidFill>
                  <a:srgbClr val="14233B"/>
                </a:solidFill>
                <a:latin typeface="Arial"/>
                <a:ea typeface="Arial"/>
                <a:cs typeface="Arial"/>
              </a:defRPr>
            </a:pPr>
            <a:r>
              <a:rPr b="1">
                <a:solidFill>
                  <a:srgbClr val="14233B"/>
                </a:solidFill>
                <a:latin typeface="Arial"/>
                <a:ea typeface="Arial"/>
                <a:cs typeface="Arial"/>
              </a:rPr>
              <a:t>Doanh thu thuần</a:t>
            </a:r>
          </a:p>
        </p:txBody>
      </p:sp>
      <p:sp>
        <p:nvSpPr>
          <p:cNvPr id="11" name="+18,6% so với T04">
            <a:extLst xmlns:a="http://schemas.openxmlformats.org/drawingml/2006/main">
              <a:ext uri="{FF2B5EF4-FFF2-40B4-BE49-F238E27FC236}">
                <a16:creationId xmlns:a16="http://schemas.microsoft.com/office/drawing/2014/main" id="{F812452E-D836-4509-BE92-444C7FF171FC}"/>
              </a:ext>
            </a:extLst>
          </p:cNvPr>
          <p:cNvSpPr>
            <a:spLocks xmlns:a="http://schemas.openxmlformats.org/drawingml/2006/main" noGrp="1"/>
          </p:cNvSpPr>
          <p:nvPr/>
        </p:nvSpPr>
        <p:spPr>
          <a:xfrm xmlns:a="http://schemas.openxmlformats.org/drawingml/2006/main">
            <a:off x="666750" y="4495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31935B"/>
                </a:solidFill>
                <a:latin typeface="Arial"/>
                <a:ea typeface="Arial"/>
                <a:cs typeface="Arial"/>
              </a:defRPr>
            </a:defPPr>
            <a:lvl1pPr algn="ctr">
              <a:defRPr b="1">
                <a:solidFill>
                  <a:srgbClr val="31935B"/>
                </a:solidFill>
                <a:latin typeface="Arial"/>
                <a:ea typeface="Arial"/>
                <a:cs typeface="Arial"/>
              </a:defRPr>
            </a:lvl1pPr>
            <a:lvl2pPr algn="ctr">
              <a:defRPr b="1">
                <a:solidFill>
                  <a:srgbClr val="31935B"/>
                </a:solidFill>
                <a:latin typeface="Arial"/>
                <a:ea typeface="Arial"/>
                <a:cs typeface="Arial"/>
              </a:defRPr>
            </a:lvl2pPr>
            <a:lvl3pPr algn="ctr">
              <a:defRPr b="1">
                <a:solidFill>
                  <a:srgbClr val="31935B"/>
                </a:solidFill>
                <a:latin typeface="Arial"/>
                <a:ea typeface="Arial"/>
                <a:cs typeface="Arial"/>
              </a:defRPr>
            </a:lvl3pPr>
            <a:lvl4pPr algn="ctr">
              <a:defRPr b="1">
                <a:solidFill>
                  <a:srgbClr val="31935B"/>
                </a:solidFill>
                <a:latin typeface="Arial"/>
                <a:ea typeface="Arial"/>
                <a:cs typeface="Arial"/>
              </a:defRPr>
            </a:lvl4pPr>
            <a:lvl5pPr algn="ctr">
              <a:defRPr b="1">
                <a:solidFill>
                  <a:srgbClr val="31935B"/>
                </a:solidFill>
                <a:latin typeface="Arial"/>
                <a:ea typeface="Arial"/>
                <a:cs typeface="Arial"/>
              </a:defRPr>
            </a:lvl5pPr>
            <a:lvl6pPr algn="ctr">
              <a:defRPr b="1">
                <a:solidFill>
                  <a:srgbClr val="31935B"/>
                </a:solidFill>
                <a:latin typeface="Arial"/>
                <a:ea typeface="Arial"/>
                <a:cs typeface="Arial"/>
              </a:defRPr>
            </a:lvl6pPr>
            <a:lvl7pPr algn="ctr">
              <a:defRPr b="1">
                <a:solidFill>
                  <a:srgbClr val="31935B"/>
                </a:solidFill>
                <a:latin typeface="Arial"/>
                <a:ea typeface="Arial"/>
                <a:cs typeface="Arial"/>
              </a:defRPr>
            </a:lvl7pPr>
            <a:lvl8pPr algn="ctr">
              <a:defRPr b="1">
                <a:solidFill>
                  <a:srgbClr val="31935B"/>
                </a:solidFill>
                <a:latin typeface="Arial"/>
                <a:ea typeface="Arial"/>
                <a:cs typeface="Arial"/>
              </a:defRPr>
            </a:lvl8pPr>
            <a:lvl9pPr algn="ctr">
              <a:defRPr b="1">
                <a:solidFill>
                  <a:srgbClr val="31935B"/>
                </a:solidFill>
                <a:latin typeface="Arial"/>
                <a:ea typeface="Arial"/>
                <a:cs typeface="Arial"/>
              </a:defRPr>
            </a:lvl9pPr>
          </a:lstStyle>
          <a:p xmlns:a="http://schemas.openxmlformats.org/drawingml/2006/main">
            <a:pPr algn="ctr">
              <a:defRPr b="1">
                <a:solidFill>
                  <a:srgbClr val="31935B"/>
                </a:solidFill>
                <a:latin typeface="Arial"/>
                <a:ea typeface="Arial"/>
                <a:cs typeface="Arial"/>
              </a:defRPr>
            </a:pPr>
            <a:r>
              <a:rPr b="1">
                <a:solidFill>
                  <a:srgbClr val="31935B"/>
                </a:solidFill>
                <a:latin typeface="Arial"/>
                <a:ea typeface="Arial"/>
                <a:cs typeface="Arial"/>
              </a:rPr>
              <a:t>+18,6% so với T04</a:t>
            </a:r>
          </a:p>
        </p:txBody>
      </p:sp>
      <p:sp>
        <p:nvSpPr>
          <p:cNvPr id="12" name="">
            <a:extLst xmlns:a="http://schemas.openxmlformats.org/drawingml/2006/main">
              <a:ext uri="{FF2B5EF4-FFF2-40B4-BE49-F238E27FC236}">
                <a16:creationId xmlns:a16="http://schemas.microsoft.com/office/drawing/2014/main" id="{5011C3DD-39E4-408F-A723-227786BA2A33}"/>
              </a:ext>
            </a:extLst>
          </p:cNvPr>
          <p:cNvSpPr>
            <a:spLocks xmlns:a="http://schemas.openxmlformats.org/drawingml/2006/main" noGrp="1"/>
          </p:cNvSpPr>
          <p:nvPr/>
        </p:nvSpPr>
        <p:spPr>
          <a:xfrm xmlns:a="http://schemas.openxmlformats.org/drawingml/2006/main">
            <a:off x="3314700" y="2724150"/>
            <a:ext cx="2552700" cy="2171700"/>
          </a:xfrm>
          <a:prstGeom xmlns:a="http://schemas.openxmlformats.org/drawingml/2006/main" prst="roundRect">
            <a:avLst>
              <a:gd name="adj" fmla="val 9649"/>
            </a:avLst>
          </a:prstGeom>
          <a:solidFill xmlns:a="http://schemas.openxmlformats.org/drawingml/2006/main">
            <a:srgbClr val="EEF4FC"/>
          </a:solidFill>
          <a:ln xmlns:a="http://schemas.openxmlformats.org/drawingml/2006/main" w="0">
            <a:noFill/>
            <a:prstDash val="solid"/>
          </a:ln>
        </p:spPr>
      </p:sp>
      <p:sp>
        <p:nvSpPr>
          <p:cNvPr id="13" name="7,28">
            <a:extLst xmlns:a="http://schemas.openxmlformats.org/drawingml/2006/main">
              <a:ext uri="{FF2B5EF4-FFF2-40B4-BE49-F238E27FC236}">
                <a16:creationId xmlns:a16="http://schemas.microsoft.com/office/drawing/2014/main" id="{56ED4DB4-64F6-4F10-B9A3-B5B3E5ED521E}"/>
              </a:ext>
            </a:extLst>
          </p:cNvPr>
          <p:cNvSpPr>
            <a:spLocks xmlns:a="http://schemas.openxmlformats.org/drawingml/2006/main" noGrp="1"/>
          </p:cNvSpPr>
          <p:nvPr/>
        </p:nvSpPr>
        <p:spPr>
          <a:xfrm xmlns:a="http://schemas.openxmlformats.org/drawingml/2006/main">
            <a:off x="3505200" y="297180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31935B"/>
                </a:solidFill>
                <a:latin typeface="Arial"/>
                <a:ea typeface="Arial"/>
                <a:cs typeface="Arial"/>
              </a:defRPr>
            </a:defPPr>
            <a:lvl1pPr algn="ctr">
              <a:defRPr b="1">
                <a:solidFill>
                  <a:srgbClr val="31935B"/>
                </a:solidFill>
                <a:latin typeface="Arial"/>
                <a:ea typeface="Arial"/>
                <a:cs typeface="Arial"/>
              </a:defRPr>
            </a:lvl1pPr>
            <a:lvl2pPr algn="ctr">
              <a:defRPr b="1">
                <a:solidFill>
                  <a:srgbClr val="31935B"/>
                </a:solidFill>
                <a:latin typeface="Arial"/>
                <a:ea typeface="Arial"/>
                <a:cs typeface="Arial"/>
              </a:defRPr>
            </a:lvl2pPr>
            <a:lvl3pPr algn="ctr">
              <a:defRPr b="1">
                <a:solidFill>
                  <a:srgbClr val="31935B"/>
                </a:solidFill>
                <a:latin typeface="Arial"/>
                <a:ea typeface="Arial"/>
                <a:cs typeface="Arial"/>
              </a:defRPr>
            </a:lvl3pPr>
            <a:lvl4pPr algn="ctr">
              <a:defRPr b="1">
                <a:solidFill>
                  <a:srgbClr val="31935B"/>
                </a:solidFill>
                <a:latin typeface="Arial"/>
                <a:ea typeface="Arial"/>
                <a:cs typeface="Arial"/>
              </a:defRPr>
            </a:lvl4pPr>
            <a:lvl5pPr algn="ctr">
              <a:defRPr b="1">
                <a:solidFill>
                  <a:srgbClr val="31935B"/>
                </a:solidFill>
                <a:latin typeface="Arial"/>
                <a:ea typeface="Arial"/>
                <a:cs typeface="Arial"/>
              </a:defRPr>
            </a:lvl5pPr>
            <a:lvl6pPr algn="ctr">
              <a:defRPr b="1">
                <a:solidFill>
                  <a:srgbClr val="31935B"/>
                </a:solidFill>
                <a:latin typeface="Arial"/>
                <a:ea typeface="Arial"/>
                <a:cs typeface="Arial"/>
              </a:defRPr>
            </a:lvl6pPr>
            <a:lvl7pPr algn="ctr">
              <a:defRPr b="1">
                <a:solidFill>
                  <a:srgbClr val="31935B"/>
                </a:solidFill>
                <a:latin typeface="Arial"/>
                <a:ea typeface="Arial"/>
                <a:cs typeface="Arial"/>
              </a:defRPr>
            </a:lvl7pPr>
            <a:lvl8pPr algn="ctr">
              <a:defRPr b="1">
                <a:solidFill>
                  <a:srgbClr val="31935B"/>
                </a:solidFill>
                <a:latin typeface="Arial"/>
                <a:ea typeface="Arial"/>
                <a:cs typeface="Arial"/>
              </a:defRPr>
            </a:lvl8pPr>
            <a:lvl9pPr algn="ctr">
              <a:defRPr b="1">
                <a:solidFill>
                  <a:srgbClr val="31935B"/>
                </a:solidFill>
                <a:latin typeface="Arial"/>
                <a:ea typeface="Arial"/>
                <a:cs typeface="Arial"/>
              </a:defRPr>
            </a:lvl9pPr>
          </a:lstStyle>
          <a:p xmlns:a="http://schemas.openxmlformats.org/drawingml/2006/main">
            <a:pPr algn="ctr">
              <a:defRPr b="1">
                <a:solidFill>
                  <a:srgbClr val="31935B"/>
                </a:solidFill>
                <a:latin typeface="Arial"/>
                <a:ea typeface="Arial"/>
                <a:cs typeface="Arial"/>
              </a:defRPr>
            </a:pPr>
            <a:r>
              <a:rPr b="1">
                <a:solidFill>
                  <a:srgbClr val="31935B"/>
                </a:solidFill>
                <a:latin typeface="Arial"/>
                <a:ea typeface="Arial"/>
                <a:cs typeface="Arial"/>
              </a:rPr>
              <a:t>7,28</a:t>
            </a:r>
          </a:p>
        </p:txBody>
      </p:sp>
      <p:sp>
        <p:nvSpPr>
          <p:cNvPr id="14" name="TỶ VND">
            <a:extLst xmlns:a="http://schemas.openxmlformats.org/drawingml/2006/main">
              <a:ext uri="{FF2B5EF4-FFF2-40B4-BE49-F238E27FC236}">
                <a16:creationId xmlns:a16="http://schemas.microsoft.com/office/drawing/2014/main" id="{5EFA3F61-9A4C-40B9-866C-4E38A9C7A4CA}"/>
              </a:ext>
            </a:extLst>
          </p:cNvPr>
          <p:cNvSpPr>
            <a:spLocks xmlns:a="http://schemas.openxmlformats.org/drawingml/2006/main" noGrp="1"/>
          </p:cNvSpPr>
          <p:nvPr/>
        </p:nvSpPr>
        <p:spPr>
          <a:xfrm xmlns:a="http://schemas.openxmlformats.org/drawingml/2006/main">
            <a:off x="3505200" y="360045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TỶ VND</a:t>
            </a:r>
          </a:p>
        </p:txBody>
      </p:sp>
      <p:sp>
        <p:nvSpPr>
          <p:cNvPr id="15" name="Tổng chi phí">
            <a:extLst xmlns:a="http://schemas.openxmlformats.org/drawingml/2006/main">
              <a:ext uri="{FF2B5EF4-FFF2-40B4-BE49-F238E27FC236}">
                <a16:creationId xmlns:a16="http://schemas.microsoft.com/office/drawing/2014/main" id="{FD27488B-1EBC-4147-A3B4-1C36E5A1B48D}"/>
              </a:ext>
            </a:extLst>
          </p:cNvPr>
          <p:cNvSpPr>
            <a:spLocks xmlns:a="http://schemas.openxmlformats.org/drawingml/2006/main" noGrp="1"/>
          </p:cNvSpPr>
          <p:nvPr/>
        </p:nvSpPr>
        <p:spPr>
          <a:xfrm xmlns:a="http://schemas.openxmlformats.org/drawingml/2006/main">
            <a:off x="3448050" y="40576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4233B"/>
                </a:solidFill>
                <a:latin typeface="Arial"/>
                <a:ea typeface="Arial"/>
                <a:cs typeface="Arial"/>
              </a:defRPr>
            </a:defPPr>
            <a:lvl1pPr algn="ctr">
              <a:defRPr b="1">
                <a:solidFill>
                  <a:srgbClr val="14233B"/>
                </a:solidFill>
                <a:latin typeface="Arial"/>
                <a:ea typeface="Arial"/>
                <a:cs typeface="Arial"/>
              </a:defRPr>
            </a:lvl1pPr>
            <a:lvl2pPr algn="ctr">
              <a:defRPr b="1">
                <a:solidFill>
                  <a:srgbClr val="14233B"/>
                </a:solidFill>
                <a:latin typeface="Arial"/>
                <a:ea typeface="Arial"/>
                <a:cs typeface="Arial"/>
              </a:defRPr>
            </a:lvl2pPr>
            <a:lvl3pPr algn="ctr">
              <a:defRPr b="1">
                <a:solidFill>
                  <a:srgbClr val="14233B"/>
                </a:solidFill>
                <a:latin typeface="Arial"/>
                <a:ea typeface="Arial"/>
                <a:cs typeface="Arial"/>
              </a:defRPr>
            </a:lvl3pPr>
            <a:lvl4pPr algn="ctr">
              <a:defRPr b="1">
                <a:solidFill>
                  <a:srgbClr val="14233B"/>
                </a:solidFill>
                <a:latin typeface="Arial"/>
                <a:ea typeface="Arial"/>
                <a:cs typeface="Arial"/>
              </a:defRPr>
            </a:lvl4pPr>
            <a:lvl5pPr algn="ctr">
              <a:defRPr b="1">
                <a:solidFill>
                  <a:srgbClr val="14233B"/>
                </a:solidFill>
                <a:latin typeface="Arial"/>
                <a:ea typeface="Arial"/>
                <a:cs typeface="Arial"/>
              </a:defRPr>
            </a:lvl5pPr>
            <a:lvl6pPr algn="ctr">
              <a:defRPr b="1">
                <a:solidFill>
                  <a:srgbClr val="14233B"/>
                </a:solidFill>
                <a:latin typeface="Arial"/>
                <a:ea typeface="Arial"/>
                <a:cs typeface="Arial"/>
              </a:defRPr>
            </a:lvl6pPr>
            <a:lvl7pPr algn="ctr">
              <a:defRPr b="1">
                <a:solidFill>
                  <a:srgbClr val="14233B"/>
                </a:solidFill>
                <a:latin typeface="Arial"/>
                <a:ea typeface="Arial"/>
                <a:cs typeface="Arial"/>
              </a:defRPr>
            </a:lvl7pPr>
            <a:lvl8pPr algn="ctr">
              <a:defRPr b="1">
                <a:solidFill>
                  <a:srgbClr val="14233B"/>
                </a:solidFill>
                <a:latin typeface="Arial"/>
                <a:ea typeface="Arial"/>
                <a:cs typeface="Arial"/>
              </a:defRPr>
            </a:lvl8pPr>
            <a:lvl9pPr algn="ctr">
              <a:defRPr b="1">
                <a:solidFill>
                  <a:srgbClr val="14233B"/>
                </a:solidFill>
                <a:latin typeface="Arial"/>
                <a:ea typeface="Arial"/>
                <a:cs typeface="Arial"/>
              </a:defRPr>
            </a:lvl9pPr>
          </a:lstStyle>
          <a:p xmlns:a="http://schemas.openxmlformats.org/drawingml/2006/main">
            <a:pPr algn="ctr">
              <a:defRPr b="1">
                <a:solidFill>
                  <a:srgbClr val="14233B"/>
                </a:solidFill>
                <a:latin typeface="Arial"/>
                <a:ea typeface="Arial"/>
                <a:cs typeface="Arial"/>
              </a:defRPr>
            </a:pPr>
            <a:r>
              <a:rPr b="1">
                <a:solidFill>
                  <a:srgbClr val="14233B"/>
                </a:solidFill>
                <a:latin typeface="Arial"/>
                <a:ea typeface="Arial"/>
                <a:cs typeface="Arial"/>
              </a:rPr>
              <a:t>Tổng chi phí</a:t>
            </a:r>
          </a:p>
        </p:txBody>
      </p:sp>
      <p:sp>
        <p:nvSpPr>
          <p:cNvPr id="16" name="+12,1% so với T04">
            <a:extLst xmlns:a="http://schemas.openxmlformats.org/drawingml/2006/main">
              <a:ext uri="{FF2B5EF4-FFF2-40B4-BE49-F238E27FC236}">
                <a16:creationId xmlns:a16="http://schemas.microsoft.com/office/drawing/2014/main" id="{F9160180-FE8D-4470-9EBB-2BBCEC36999B}"/>
              </a:ext>
            </a:extLst>
          </p:cNvPr>
          <p:cNvSpPr>
            <a:spLocks xmlns:a="http://schemas.openxmlformats.org/drawingml/2006/main" noGrp="1"/>
          </p:cNvSpPr>
          <p:nvPr/>
        </p:nvSpPr>
        <p:spPr>
          <a:xfrm xmlns:a="http://schemas.openxmlformats.org/drawingml/2006/main">
            <a:off x="3448050" y="4495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31935B"/>
                </a:solidFill>
                <a:latin typeface="Arial"/>
                <a:ea typeface="Arial"/>
                <a:cs typeface="Arial"/>
              </a:defRPr>
            </a:defPPr>
            <a:lvl1pPr algn="ctr">
              <a:defRPr b="1">
                <a:solidFill>
                  <a:srgbClr val="31935B"/>
                </a:solidFill>
                <a:latin typeface="Arial"/>
                <a:ea typeface="Arial"/>
                <a:cs typeface="Arial"/>
              </a:defRPr>
            </a:lvl1pPr>
            <a:lvl2pPr algn="ctr">
              <a:defRPr b="1">
                <a:solidFill>
                  <a:srgbClr val="31935B"/>
                </a:solidFill>
                <a:latin typeface="Arial"/>
                <a:ea typeface="Arial"/>
                <a:cs typeface="Arial"/>
              </a:defRPr>
            </a:lvl2pPr>
            <a:lvl3pPr algn="ctr">
              <a:defRPr b="1">
                <a:solidFill>
                  <a:srgbClr val="31935B"/>
                </a:solidFill>
                <a:latin typeface="Arial"/>
                <a:ea typeface="Arial"/>
                <a:cs typeface="Arial"/>
              </a:defRPr>
            </a:lvl3pPr>
            <a:lvl4pPr algn="ctr">
              <a:defRPr b="1">
                <a:solidFill>
                  <a:srgbClr val="31935B"/>
                </a:solidFill>
                <a:latin typeface="Arial"/>
                <a:ea typeface="Arial"/>
                <a:cs typeface="Arial"/>
              </a:defRPr>
            </a:lvl4pPr>
            <a:lvl5pPr algn="ctr">
              <a:defRPr b="1">
                <a:solidFill>
                  <a:srgbClr val="31935B"/>
                </a:solidFill>
                <a:latin typeface="Arial"/>
                <a:ea typeface="Arial"/>
                <a:cs typeface="Arial"/>
              </a:defRPr>
            </a:lvl5pPr>
            <a:lvl6pPr algn="ctr">
              <a:defRPr b="1">
                <a:solidFill>
                  <a:srgbClr val="31935B"/>
                </a:solidFill>
                <a:latin typeface="Arial"/>
                <a:ea typeface="Arial"/>
                <a:cs typeface="Arial"/>
              </a:defRPr>
            </a:lvl6pPr>
            <a:lvl7pPr algn="ctr">
              <a:defRPr b="1">
                <a:solidFill>
                  <a:srgbClr val="31935B"/>
                </a:solidFill>
                <a:latin typeface="Arial"/>
                <a:ea typeface="Arial"/>
                <a:cs typeface="Arial"/>
              </a:defRPr>
            </a:lvl7pPr>
            <a:lvl8pPr algn="ctr">
              <a:defRPr b="1">
                <a:solidFill>
                  <a:srgbClr val="31935B"/>
                </a:solidFill>
                <a:latin typeface="Arial"/>
                <a:ea typeface="Arial"/>
                <a:cs typeface="Arial"/>
              </a:defRPr>
            </a:lvl8pPr>
            <a:lvl9pPr algn="ctr">
              <a:defRPr b="1">
                <a:solidFill>
                  <a:srgbClr val="31935B"/>
                </a:solidFill>
                <a:latin typeface="Arial"/>
                <a:ea typeface="Arial"/>
                <a:cs typeface="Arial"/>
              </a:defRPr>
            </a:lvl9pPr>
          </a:lstStyle>
          <a:p xmlns:a="http://schemas.openxmlformats.org/drawingml/2006/main">
            <a:pPr algn="ctr">
              <a:defRPr b="1">
                <a:solidFill>
                  <a:srgbClr val="31935B"/>
                </a:solidFill>
                <a:latin typeface="Arial"/>
                <a:ea typeface="Arial"/>
                <a:cs typeface="Arial"/>
              </a:defRPr>
            </a:pPr>
            <a:r>
              <a:rPr b="1">
                <a:solidFill>
                  <a:srgbClr val="31935B"/>
                </a:solidFill>
                <a:latin typeface="Arial"/>
                <a:ea typeface="Arial"/>
                <a:cs typeface="Arial"/>
              </a:rPr>
              <a:t>+12,1% so với T04</a:t>
            </a:r>
          </a:p>
        </p:txBody>
      </p:sp>
      <p:sp>
        <p:nvSpPr>
          <p:cNvPr id="17" name="">
            <a:extLst xmlns:a="http://schemas.openxmlformats.org/drawingml/2006/main">
              <a:ext uri="{FF2B5EF4-FFF2-40B4-BE49-F238E27FC236}">
                <a16:creationId xmlns:a16="http://schemas.microsoft.com/office/drawing/2014/main" id="{8C456875-84BC-4AEA-8E02-6F583112CD0C}"/>
              </a:ext>
            </a:extLst>
          </p:cNvPr>
          <p:cNvSpPr>
            <a:spLocks xmlns:a="http://schemas.openxmlformats.org/drawingml/2006/main" noGrp="1"/>
          </p:cNvSpPr>
          <p:nvPr/>
        </p:nvSpPr>
        <p:spPr>
          <a:xfrm xmlns:a="http://schemas.openxmlformats.org/drawingml/2006/main">
            <a:off x="6096000" y="2724150"/>
            <a:ext cx="2552700" cy="2171700"/>
          </a:xfrm>
          <a:prstGeom xmlns:a="http://schemas.openxmlformats.org/drawingml/2006/main" prst="roundRect">
            <a:avLst>
              <a:gd name="adj" fmla="val 9649"/>
            </a:avLst>
          </a:prstGeom>
          <a:solidFill xmlns:a="http://schemas.openxmlformats.org/drawingml/2006/main">
            <a:srgbClr val="EEF4FC"/>
          </a:solidFill>
          <a:ln xmlns:a="http://schemas.openxmlformats.org/drawingml/2006/main" w="0">
            <a:noFill/>
            <a:prstDash val="solid"/>
          </a:ln>
        </p:spPr>
      </p:sp>
      <p:sp>
        <p:nvSpPr>
          <p:cNvPr id="18" name="5,17">
            <a:extLst xmlns:a="http://schemas.openxmlformats.org/drawingml/2006/main">
              <a:ext uri="{FF2B5EF4-FFF2-40B4-BE49-F238E27FC236}">
                <a16:creationId xmlns:a16="http://schemas.microsoft.com/office/drawing/2014/main" id="{BCD9B761-9409-48A3-8AB3-1286A1358E23}"/>
              </a:ext>
            </a:extLst>
          </p:cNvPr>
          <p:cNvSpPr>
            <a:spLocks xmlns:a="http://schemas.openxmlformats.org/drawingml/2006/main" noGrp="1"/>
          </p:cNvSpPr>
          <p:nvPr/>
        </p:nvSpPr>
        <p:spPr>
          <a:xfrm xmlns:a="http://schemas.openxmlformats.org/drawingml/2006/main">
            <a:off x="6286500" y="297180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8051B8"/>
                </a:solidFill>
                <a:latin typeface="Arial"/>
                <a:ea typeface="Arial"/>
                <a:cs typeface="Arial"/>
              </a:defRPr>
            </a:defPPr>
            <a:lvl1pPr algn="ctr">
              <a:defRPr b="1">
                <a:solidFill>
                  <a:srgbClr val="8051B8"/>
                </a:solidFill>
                <a:latin typeface="Arial"/>
                <a:ea typeface="Arial"/>
                <a:cs typeface="Arial"/>
              </a:defRPr>
            </a:lvl1pPr>
            <a:lvl2pPr algn="ctr">
              <a:defRPr b="1">
                <a:solidFill>
                  <a:srgbClr val="8051B8"/>
                </a:solidFill>
                <a:latin typeface="Arial"/>
                <a:ea typeface="Arial"/>
                <a:cs typeface="Arial"/>
              </a:defRPr>
            </a:lvl2pPr>
            <a:lvl3pPr algn="ctr">
              <a:defRPr b="1">
                <a:solidFill>
                  <a:srgbClr val="8051B8"/>
                </a:solidFill>
                <a:latin typeface="Arial"/>
                <a:ea typeface="Arial"/>
                <a:cs typeface="Arial"/>
              </a:defRPr>
            </a:lvl3pPr>
            <a:lvl4pPr algn="ctr">
              <a:defRPr b="1">
                <a:solidFill>
                  <a:srgbClr val="8051B8"/>
                </a:solidFill>
                <a:latin typeface="Arial"/>
                <a:ea typeface="Arial"/>
                <a:cs typeface="Arial"/>
              </a:defRPr>
            </a:lvl4pPr>
            <a:lvl5pPr algn="ctr">
              <a:defRPr b="1">
                <a:solidFill>
                  <a:srgbClr val="8051B8"/>
                </a:solidFill>
                <a:latin typeface="Arial"/>
                <a:ea typeface="Arial"/>
                <a:cs typeface="Arial"/>
              </a:defRPr>
            </a:lvl5pPr>
            <a:lvl6pPr algn="ctr">
              <a:defRPr b="1">
                <a:solidFill>
                  <a:srgbClr val="8051B8"/>
                </a:solidFill>
                <a:latin typeface="Arial"/>
                <a:ea typeface="Arial"/>
                <a:cs typeface="Arial"/>
              </a:defRPr>
            </a:lvl6pPr>
            <a:lvl7pPr algn="ctr">
              <a:defRPr b="1">
                <a:solidFill>
                  <a:srgbClr val="8051B8"/>
                </a:solidFill>
                <a:latin typeface="Arial"/>
                <a:ea typeface="Arial"/>
                <a:cs typeface="Arial"/>
              </a:defRPr>
            </a:lvl7pPr>
            <a:lvl8pPr algn="ctr">
              <a:defRPr b="1">
                <a:solidFill>
                  <a:srgbClr val="8051B8"/>
                </a:solidFill>
                <a:latin typeface="Arial"/>
                <a:ea typeface="Arial"/>
                <a:cs typeface="Arial"/>
              </a:defRPr>
            </a:lvl8pPr>
            <a:lvl9pPr algn="ctr">
              <a:defRPr b="1">
                <a:solidFill>
                  <a:srgbClr val="8051B8"/>
                </a:solidFill>
                <a:latin typeface="Arial"/>
                <a:ea typeface="Arial"/>
                <a:cs typeface="Arial"/>
              </a:defRPr>
            </a:lvl9pPr>
          </a:lstStyle>
          <a:p xmlns:a="http://schemas.openxmlformats.org/drawingml/2006/main">
            <a:pPr algn="ctr">
              <a:defRPr b="1">
                <a:solidFill>
                  <a:srgbClr val="8051B8"/>
                </a:solidFill>
                <a:latin typeface="Arial"/>
                <a:ea typeface="Arial"/>
                <a:cs typeface="Arial"/>
              </a:defRPr>
            </a:pPr>
            <a:r>
              <a:rPr b="1">
                <a:solidFill>
                  <a:srgbClr val="8051B8"/>
                </a:solidFill>
                <a:latin typeface="Arial"/>
                <a:ea typeface="Arial"/>
                <a:cs typeface="Arial"/>
              </a:rPr>
              <a:t>5,17</a:t>
            </a:r>
          </a:p>
        </p:txBody>
      </p:sp>
      <p:sp>
        <p:nvSpPr>
          <p:cNvPr id="19" name="TỶ VND">
            <a:extLst xmlns:a="http://schemas.openxmlformats.org/drawingml/2006/main">
              <a:ext uri="{FF2B5EF4-FFF2-40B4-BE49-F238E27FC236}">
                <a16:creationId xmlns:a16="http://schemas.microsoft.com/office/drawing/2014/main" id="{4BF859F4-3494-4159-B1DA-D6D5019662F9}"/>
              </a:ext>
            </a:extLst>
          </p:cNvPr>
          <p:cNvSpPr>
            <a:spLocks xmlns:a="http://schemas.openxmlformats.org/drawingml/2006/main" noGrp="1"/>
          </p:cNvSpPr>
          <p:nvPr/>
        </p:nvSpPr>
        <p:spPr>
          <a:xfrm xmlns:a="http://schemas.openxmlformats.org/drawingml/2006/main">
            <a:off x="6286500" y="360045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TỶ VND</a:t>
            </a:r>
          </a:p>
        </p:txBody>
      </p:sp>
      <p:sp>
        <p:nvSpPr>
          <p:cNvPr id="20" name="Lợi nhuận gộp">
            <a:extLst xmlns:a="http://schemas.openxmlformats.org/drawingml/2006/main">
              <a:ext uri="{FF2B5EF4-FFF2-40B4-BE49-F238E27FC236}">
                <a16:creationId xmlns:a16="http://schemas.microsoft.com/office/drawing/2014/main" id="{6E0FDD5E-B527-4260-A759-32F14C7D4156}"/>
              </a:ext>
            </a:extLst>
          </p:cNvPr>
          <p:cNvSpPr>
            <a:spLocks xmlns:a="http://schemas.openxmlformats.org/drawingml/2006/main" noGrp="1"/>
          </p:cNvSpPr>
          <p:nvPr/>
        </p:nvSpPr>
        <p:spPr>
          <a:xfrm xmlns:a="http://schemas.openxmlformats.org/drawingml/2006/main">
            <a:off x="6229350" y="40576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4233B"/>
                </a:solidFill>
                <a:latin typeface="Arial"/>
                <a:ea typeface="Arial"/>
                <a:cs typeface="Arial"/>
              </a:defRPr>
            </a:defPPr>
            <a:lvl1pPr algn="ctr">
              <a:defRPr b="1">
                <a:solidFill>
                  <a:srgbClr val="14233B"/>
                </a:solidFill>
                <a:latin typeface="Arial"/>
                <a:ea typeface="Arial"/>
                <a:cs typeface="Arial"/>
              </a:defRPr>
            </a:lvl1pPr>
            <a:lvl2pPr algn="ctr">
              <a:defRPr b="1">
                <a:solidFill>
                  <a:srgbClr val="14233B"/>
                </a:solidFill>
                <a:latin typeface="Arial"/>
                <a:ea typeface="Arial"/>
                <a:cs typeface="Arial"/>
              </a:defRPr>
            </a:lvl2pPr>
            <a:lvl3pPr algn="ctr">
              <a:defRPr b="1">
                <a:solidFill>
                  <a:srgbClr val="14233B"/>
                </a:solidFill>
                <a:latin typeface="Arial"/>
                <a:ea typeface="Arial"/>
                <a:cs typeface="Arial"/>
              </a:defRPr>
            </a:lvl3pPr>
            <a:lvl4pPr algn="ctr">
              <a:defRPr b="1">
                <a:solidFill>
                  <a:srgbClr val="14233B"/>
                </a:solidFill>
                <a:latin typeface="Arial"/>
                <a:ea typeface="Arial"/>
                <a:cs typeface="Arial"/>
              </a:defRPr>
            </a:lvl4pPr>
            <a:lvl5pPr algn="ctr">
              <a:defRPr b="1">
                <a:solidFill>
                  <a:srgbClr val="14233B"/>
                </a:solidFill>
                <a:latin typeface="Arial"/>
                <a:ea typeface="Arial"/>
                <a:cs typeface="Arial"/>
              </a:defRPr>
            </a:lvl5pPr>
            <a:lvl6pPr algn="ctr">
              <a:defRPr b="1">
                <a:solidFill>
                  <a:srgbClr val="14233B"/>
                </a:solidFill>
                <a:latin typeface="Arial"/>
                <a:ea typeface="Arial"/>
                <a:cs typeface="Arial"/>
              </a:defRPr>
            </a:lvl6pPr>
            <a:lvl7pPr algn="ctr">
              <a:defRPr b="1">
                <a:solidFill>
                  <a:srgbClr val="14233B"/>
                </a:solidFill>
                <a:latin typeface="Arial"/>
                <a:ea typeface="Arial"/>
                <a:cs typeface="Arial"/>
              </a:defRPr>
            </a:lvl7pPr>
            <a:lvl8pPr algn="ctr">
              <a:defRPr b="1">
                <a:solidFill>
                  <a:srgbClr val="14233B"/>
                </a:solidFill>
                <a:latin typeface="Arial"/>
                <a:ea typeface="Arial"/>
                <a:cs typeface="Arial"/>
              </a:defRPr>
            </a:lvl8pPr>
            <a:lvl9pPr algn="ctr">
              <a:defRPr b="1">
                <a:solidFill>
                  <a:srgbClr val="14233B"/>
                </a:solidFill>
                <a:latin typeface="Arial"/>
                <a:ea typeface="Arial"/>
                <a:cs typeface="Arial"/>
              </a:defRPr>
            </a:lvl9pPr>
          </a:lstStyle>
          <a:p xmlns:a="http://schemas.openxmlformats.org/drawingml/2006/main">
            <a:pPr algn="ctr">
              <a:defRPr b="1">
                <a:solidFill>
                  <a:srgbClr val="14233B"/>
                </a:solidFill>
                <a:latin typeface="Arial"/>
                <a:ea typeface="Arial"/>
                <a:cs typeface="Arial"/>
              </a:defRPr>
            </a:pPr>
            <a:r>
              <a:rPr b="1">
                <a:solidFill>
                  <a:srgbClr val="14233B"/>
                </a:solidFill>
                <a:latin typeface="Arial"/>
                <a:ea typeface="Arial"/>
                <a:cs typeface="Arial"/>
              </a:rPr>
              <a:t>Lợi nhuận gộp</a:t>
            </a:r>
          </a:p>
        </p:txBody>
      </p:sp>
      <p:sp>
        <p:nvSpPr>
          <p:cNvPr id="21" name="+27,4% so với T04">
            <a:extLst xmlns:a="http://schemas.openxmlformats.org/drawingml/2006/main">
              <a:ext uri="{FF2B5EF4-FFF2-40B4-BE49-F238E27FC236}">
                <a16:creationId xmlns:a16="http://schemas.microsoft.com/office/drawing/2014/main" id="{D7812B27-0426-4BB3-A884-34C87E1E8A75}"/>
              </a:ext>
            </a:extLst>
          </p:cNvPr>
          <p:cNvSpPr>
            <a:spLocks xmlns:a="http://schemas.openxmlformats.org/drawingml/2006/main" noGrp="1"/>
          </p:cNvSpPr>
          <p:nvPr/>
        </p:nvSpPr>
        <p:spPr>
          <a:xfrm xmlns:a="http://schemas.openxmlformats.org/drawingml/2006/main">
            <a:off x="6229350" y="4495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31935B"/>
                </a:solidFill>
                <a:latin typeface="Arial"/>
                <a:ea typeface="Arial"/>
                <a:cs typeface="Arial"/>
              </a:defRPr>
            </a:defPPr>
            <a:lvl1pPr algn="ctr">
              <a:defRPr b="1">
                <a:solidFill>
                  <a:srgbClr val="31935B"/>
                </a:solidFill>
                <a:latin typeface="Arial"/>
                <a:ea typeface="Arial"/>
                <a:cs typeface="Arial"/>
              </a:defRPr>
            </a:lvl1pPr>
            <a:lvl2pPr algn="ctr">
              <a:defRPr b="1">
                <a:solidFill>
                  <a:srgbClr val="31935B"/>
                </a:solidFill>
                <a:latin typeface="Arial"/>
                <a:ea typeface="Arial"/>
                <a:cs typeface="Arial"/>
              </a:defRPr>
            </a:lvl2pPr>
            <a:lvl3pPr algn="ctr">
              <a:defRPr b="1">
                <a:solidFill>
                  <a:srgbClr val="31935B"/>
                </a:solidFill>
                <a:latin typeface="Arial"/>
                <a:ea typeface="Arial"/>
                <a:cs typeface="Arial"/>
              </a:defRPr>
            </a:lvl3pPr>
            <a:lvl4pPr algn="ctr">
              <a:defRPr b="1">
                <a:solidFill>
                  <a:srgbClr val="31935B"/>
                </a:solidFill>
                <a:latin typeface="Arial"/>
                <a:ea typeface="Arial"/>
                <a:cs typeface="Arial"/>
              </a:defRPr>
            </a:lvl4pPr>
            <a:lvl5pPr algn="ctr">
              <a:defRPr b="1">
                <a:solidFill>
                  <a:srgbClr val="31935B"/>
                </a:solidFill>
                <a:latin typeface="Arial"/>
                <a:ea typeface="Arial"/>
                <a:cs typeface="Arial"/>
              </a:defRPr>
            </a:lvl5pPr>
            <a:lvl6pPr algn="ctr">
              <a:defRPr b="1">
                <a:solidFill>
                  <a:srgbClr val="31935B"/>
                </a:solidFill>
                <a:latin typeface="Arial"/>
                <a:ea typeface="Arial"/>
                <a:cs typeface="Arial"/>
              </a:defRPr>
            </a:lvl6pPr>
            <a:lvl7pPr algn="ctr">
              <a:defRPr b="1">
                <a:solidFill>
                  <a:srgbClr val="31935B"/>
                </a:solidFill>
                <a:latin typeface="Arial"/>
                <a:ea typeface="Arial"/>
                <a:cs typeface="Arial"/>
              </a:defRPr>
            </a:lvl7pPr>
            <a:lvl8pPr algn="ctr">
              <a:defRPr b="1">
                <a:solidFill>
                  <a:srgbClr val="31935B"/>
                </a:solidFill>
                <a:latin typeface="Arial"/>
                <a:ea typeface="Arial"/>
                <a:cs typeface="Arial"/>
              </a:defRPr>
            </a:lvl8pPr>
            <a:lvl9pPr algn="ctr">
              <a:defRPr b="1">
                <a:solidFill>
                  <a:srgbClr val="31935B"/>
                </a:solidFill>
                <a:latin typeface="Arial"/>
                <a:ea typeface="Arial"/>
                <a:cs typeface="Arial"/>
              </a:defRPr>
            </a:lvl9pPr>
          </a:lstStyle>
          <a:p xmlns:a="http://schemas.openxmlformats.org/drawingml/2006/main">
            <a:pPr algn="ctr">
              <a:defRPr b="1">
                <a:solidFill>
                  <a:srgbClr val="31935B"/>
                </a:solidFill>
                <a:latin typeface="Arial"/>
                <a:ea typeface="Arial"/>
                <a:cs typeface="Arial"/>
              </a:defRPr>
            </a:pPr>
            <a:r>
              <a:rPr b="1">
                <a:solidFill>
                  <a:srgbClr val="31935B"/>
                </a:solidFill>
                <a:latin typeface="Arial"/>
                <a:ea typeface="Arial"/>
                <a:cs typeface="Arial"/>
              </a:rPr>
              <a:t>+27,4% so với T04</a:t>
            </a:r>
          </a:p>
        </p:txBody>
      </p:sp>
      <p:sp>
        <p:nvSpPr>
          <p:cNvPr id="22" name="">
            <a:extLst xmlns:a="http://schemas.openxmlformats.org/drawingml/2006/main">
              <a:ext uri="{FF2B5EF4-FFF2-40B4-BE49-F238E27FC236}">
                <a16:creationId xmlns:a16="http://schemas.microsoft.com/office/drawing/2014/main" id="{E49EBCD7-7000-4C47-B19C-96673E8F70E7}"/>
              </a:ext>
            </a:extLst>
          </p:cNvPr>
          <p:cNvSpPr>
            <a:spLocks xmlns:a="http://schemas.openxmlformats.org/drawingml/2006/main" noGrp="1"/>
          </p:cNvSpPr>
          <p:nvPr/>
        </p:nvSpPr>
        <p:spPr>
          <a:xfrm xmlns:a="http://schemas.openxmlformats.org/drawingml/2006/main">
            <a:off x="8877300" y="2724150"/>
            <a:ext cx="2552700" cy="2171700"/>
          </a:xfrm>
          <a:prstGeom xmlns:a="http://schemas.openxmlformats.org/drawingml/2006/main" prst="roundRect">
            <a:avLst>
              <a:gd name="adj" fmla="val 9649"/>
            </a:avLst>
          </a:prstGeom>
          <a:solidFill xmlns:a="http://schemas.openxmlformats.org/drawingml/2006/main">
            <a:srgbClr val="EEF4FC"/>
          </a:solidFill>
          <a:ln xmlns:a="http://schemas.openxmlformats.org/drawingml/2006/main" w="0">
            <a:noFill/>
            <a:prstDash val="solid"/>
          </a:ln>
        </p:spPr>
      </p:sp>
      <p:sp>
        <p:nvSpPr>
          <p:cNvPr id="23" name="2,89">
            <a:extLst xmlns:a="http://schemas.openxmlformats.org/drawingml/2006/main">
              <a:ext uri="{FF2B5EF4-FFF2-40B4-BE49-F238E27FC236}">
                <a16:creationId xmlns:a16="http://schemas.microsoft.com/office/drawing/2014/main" id="{5296799F-6FDC-4844-A4D5-C3D50891FF12}"/>
              </a:ext>
            </a:extLst>
          </p:cNvPr>
          <p:cNvSpPr>
            <a:spLocks xmlns:a="http://schemas.openxmlformats.org/drawingml/2006/main" noGrp="1"/>
          </p:cNvSpPr>
          <p:nvPr/>
        </p:nvSpPr>
        <p:spPr>
          <a:xfrm xmlns:a="http://schemas.openxmlformats.org/drawingml/2006/main">
            <a:off x="9067800" y="2971800"/>
            <a:ext cx="2171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E5902F"/>
                </a:solidFill>
                <a:latin typeface="Arial"/>
                <a:ea typeface="Arial"/>
                <a:cs typeface="Arial"/>
              </a:defRPr>
            </a:defPPr>
            <a:lvl1pPr algn="ctr">
              <a:defRPr b="1">
                <a:solidFill>
                  <a:srgbClr val="E5902F"/>
                </a:solidFill>
                <a:latin typeface="Arial"/>
                <a:ea typeface="Arial"/>
                <a:cs typeface="Arial"/>
              </a:defRPr>
            </a:lvl1pPr>
            <a:lvl2pPr algn="ctr">
              <a:defRPr b="1">
                <a:solidFill>
                  <a:srgbClr val="E5902F"/>
                </a:solidFill>
                <a:latin typeface="Arial"/>
                <a:ea typeface="Arial"/>
                <a:cs typeface="Arial"/>
              </a:defRPr>
            </a:lvl2pPr>
            <a:lvl3pPr algn="ctr">
              <a:defRPr b="1">
                <a:solidFill>
                  <a:srgbClr val="E5902F"/>
                </a:solidFill>
                <a:latin typeface="Arial"/>
                <a:ea typeface="Arial"/>
                <a:cs typeface="Arial"/>
              </a:defRPr>
            </a:lvl3pPr>
            <a:lvl4pPr algn="ctr">
              <a:defRPr b="1">
                <a:solidFill>
                  <a:srgbClr val="E5902F"/>
                </a:solidFill>
                <a:latin typeface="Arial"/>
                <a:ea typeface="Arial"/>
                <a:cs typeface="Arial"/>
              </a:defRPr>
            </a:lvl4pPr>
            <a:lvl5pPr algn="ctr">
              <a:defRPr b="1">
                <a:solidFill>
                  <a:srgbClr val="E5902F"/>
                </a:solidFill>
                <a:latin typeface="Arial"/>
                <a:ea typeface="Arial"/>
                <a:cs typeface="Arial"/>
              </a:defRPr>
            </a:lvl5pPr>
            <a:lvl6pPr algn="ctr">
              <a:defRPr b="1">
                <a:solidFill>
                  <a:srgbClr val="E5902F"/>
                </a:solidFill>
                <a:latin typeface="Arial"/>
                <a:ea typeface="Arial"/>
                <a:cs typeface="Arial"/>
              </a:defRPr>
            </a:lvl6pPr>
            <a:lvl7pPr algn="ctr">
              <a:defRPr b="1">
                <a:solidFill>
                  <a:srgbClr val="E5902F"/>
                </a:solidFill>
                <a:latin typeface="Arial"/>
                <a:ea typeface="Arial"/>
                <a:cs typeface="Arial"/>
              </a:defRPr>
            </a:lvl7pPr>
            <a:lvl8pPr algn="ctr">
              <a:defRPr b="1">
                <a:solidFill>
                  <a:srgbClr val="E5902F"/>
                </a:solidFill>
                <a:latin typeface="Arial"/>
                <a:ea typeface="Arial"/>
                <a:cs typeface="Arial"/>
              </a:defRPr>
            </a:lvl8pPr>
            <a:lvl9pPr algn="ctr">
              <a:defRPr b="1">
                <a:solidFill>
                  <a:srgbClr val="E5902F"/>
                </a:solidFill>
                <a:latin typeface="Arial"/>
                <a:ea typeface="Arial"/>
                <a:cs typeface="Arial"/>
              </a:defRPr>
            </a:lvl9pPr>
          </a:lstStyle>
          <a:p xmlns:a="http://schemas.openxmlformats.org/drawingml/2006/main">
            <a:pPr algn="ctr">
              <a:defRPr b="1">
                <a:solidFill>
                  <a:srgbClr val="E5902F"/>
                </a:solidFill>
                <a:latin typeface="Arial"/>
                <a:ea typeface="Arial"/>
                <a:cs typeface="Arial"/>
              </a:defRPr>
            </a:pPr>
            <a:r>
              <a:rPr b="1">
                <a:solidFill>
                  <a:srgbClr val="E5902F"/>
                </a:solidFill>
                <a:latin typeface="Arial"/>
                <a:ea typeface="Arial"/>
                <a:cs typeface="Arial"/>
              </a:rPr>
              <a:t>2,89</a:t>
            </a:r>
          </a:p>
        </p:txBody>
      </p:sp>
      <p:sp>
        <p:nvSpPr>
          <p:cNvPr id="24" name="TỶ VND">
            <a:extLst xmlns:a="http://schemas.openxmlformats.org/drawingml/2006/main">
              <a:ext uri="{FF2B5EF4-FFF2-40B4-BE49-F238E27FC236}">
                <a16:creationId xmlns:a16="http://schemas.microsoft.com/office/drawing/2014/main" id="{9436721E-541D-4FB5-A6BE-FECAC4F719F0}"/>
              </a:ext>
            </a:extLst>
          </p:cNvPr>
          <p:cNvSpPr>
            <a:spLocks xmlns:a="http://schemas.openxmlformats.org/drawingml/2006/main" noGrp="1"/>
          </p:cNvSpPr>
          <p:nvPr/>
        </p:nvSpPr>
        <p:spPr>
          <a:xfrm xmlns:a="http://schemas.openxmlformats.org/drawingml/2006/main">
            <a:off x="9067800" y="3600450"/>
            <a:ext cx="2171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5D6B80"/>
                </a:solidFill>
                <a:latin typeface="Arial"/>
                <a:ea typeface="Arial"/>
                <a:cs typeface="Arial"/>
              </a:defRPr>
            </a:defPPr>
            <a:lvl1pPr algn="ctr">
              <a:defRPr b="1">
                <a:solidFill>
                  <a:srgbClr val="5D6B80"/>
                </a:solidFill>
                <a:latin typeface="Arial"/>
                <a:ea typeface="Arial"/>
                <a:cs typeface="Arial"/>
              </a:defRPr>
            </a:lvl1pPr>
            <a:lvl2pPr algn="ctr">
              <a:defRPr b="1">
                <a:solidFill>
                  <a:srgbClr val="5D6B80"/>
                </a:solidFill>
                <a:latin typeface="Arial"/>
                <a:ea typeface="Arial"/>
                <a:cs typeface="Arial"/>
              </a:defRPr>
            </a:lvl2pPr>
            <a:lvl3pPr algn="ctr">
              <a:defRPr b="1">
                <a:solidFill>
                  <a:srgbClr val="5D6B80"/>
                </a:solidFill>
                <a:latin typeface="Arial"/>
                <a:ea typeface="Arial"/>
                <a:cs typeface="Arial"/>
              </a:defRPr>
            </a:lvl3pPr>
            <a:lvl4pPr algn="ctr">
              <a:defRPr b="1">
                <a:solidFill>
                  <a:srgbClr val="5D6B80"/>
                </a:solidFill>
                <a:latin typeface="Arial"/>
                <a:ea typeface="Arial"/>
                <a:cs typeface="Arial"/>
              </a:defRPr>
            </a:lvl4pPr>
            <a:lvl5pPr algn="ctr">
              <a:defRPr b="1">
                <a:solidFill>
                  <a:srgbClr val="5D6B80"/>
                </a:solidFill>
                <a:latin typeface="Arial"/>
                <a:ea typeface="Arial"/>
                <a:cs typeface="Arial"/>
              </a:defRPr>
            </a:lvl5pPr>
            <a:lvl6pPr algn="ctr">
              <a:defRPr b="1">
                <a:solidFill>
                  <a:srgbClr val="5D6B80"/>
                </a:solidFill>
                <a:latin typeface="Arial"/>
                <a:ea typeface="Arial"/>
                <a:cs typeface="Arial"/>
              </a:defRPr>
            </a:lvl6pPr>
            <a:lvl7pPr algn="ctr">
              <a:defRPr b="1">
                <a:solidFill>
                  <a:srgbClr val="5D6B80"/>
                </a:solidFill>
                <a:latin typeface="Arial"/>
                <a:ea typeface="Arial"/>
                <a:cs typeface="Arial"/>
              </a:defRPr>
            </a:lvl7pPr>
            <a:lvl8pPr algn="ctr">
              <a:defRPr b="1">
                <a:solidFill>
                  <a:srgbClr val="5D6B80"/>
                </a:solidFill>
                <a:latin typeface="Arial"/>
                <a:ea typeface="Arial"/>
                <a:cs typeface="Arial"/>
              </a:defRPr>
            </a:lvl8pPr>
            <a:lvl9pPr algn="ctr">
              <a:defRPr b="1">
                <a:solidFill>
                  <a:srgbClr val="5D6B80"/>
                </a:solidFill>
                <a:latin typeface="Arial"/>
                <a:ea typeface="Arial"/>
                <a:cs typeface="Arial"/>
              </a:defRPr>
            </a:lvl9pPr>
          </a:lstStyle>
          <a:p xmlns:a="http://schemas.openxmlformats.org/drawingml/2006/main">
            <a:pPr algn="ctr">
              <a:defRPr b="1">
                <a:solidFill>
                  <a:srgbClr val="5D6B80"/>
                </a:solidFill>
                <a:latin typeface="Arial"/>
                <a:ea typeface="Arial"/>
                <a:cs typeface="Arial"/>
              </a:defRPr>
            </a:pPr>
            <a:r>
              <a:rPr b="1">
                <a:solidFill>
                  <a:srgbClr val="5D6B80"/>
                </a:solidFill>
                <a:latin typeface="Arial"/>
                <a:ea typeface="Arial"/>
                <a:cs typeface="Arial"/>
              </a:rPr>
              <a:t>TỶ VND</a:t>
            </a:r>
          </a:p>
        </p:txBody>
      </p:sp>
      <p:sp>
        <p:nvSpPr>
          <p:cNvPr id="25" name="Lợi nhuận sau thuế">
            <a:extLst xmlns:a="http://schemas.openxmlformats.org/drawingml/2006/main">
              <a:ext uri="{FF2B5EF4-FFF2-40B4-BE49-F238E27FC236}">
                <a16:creationId xmlns:a16="http://schemas.microsoft.com/office/drawing/2014/main" id="{174C8F79-352A-4C5F-9FE4-27DC6AAAC8A4}"/>
              </a:ext>
            </a:extLst>
          </p:cNvPr>
          <p:cNvSpPr>
            <a:spLocks xmlns:a="http://schemas.openxmlformats.org/drawingml/2006/main" noGrp="1"/>
          </p:cNvSpPr>
          <p:nvPr/>
        </p:nvSpPr>
        <p:spPr>
          <a:xfrm xmlns:a="http://schemas.openxmlformats.org/drawingml/2006/main">
            <a:off x="9010650" y="40576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14233B"/>
                </a:solidFill>
                <a:latin typeface="Arial"/>
                <a:ea typeface="Arial"/>
                <a:cs typeface="Arial"/>
              </a:defRPr>
            </a:defPPr>
            <a:lvl1pPr algn="ctr">
              <a:defRPr b="1">
                <a:solidFill>
                  <a:srgbClr val="14233B"/>
                </a:solidFill>
                <a:latin typeface="Arial"/>
                <a:ea typeface="Arial"/>
                <a:cs typeface="Arial"/>
              </a:defRPr>
            </a:lvl1pPr>
            <a:lvl2pPr algn="ctr">
              <a:defRPr b="1">
                <a:solidFill>
                  <a:srgbClr val="14233B"/>
                </a:solidFill>
                <a:latin typeface="Arial"/>
                <a:ea typeface="Arial"/>
                <a:cs typeface="Arial"/>
              </a:defRPr>
            </a:lvl2pPr>
            <a:lvl3pPr algn="ctr">
              <a:defRPr b="1">
                <a:solidFill>
                  <a:srgbClr val="14233B"/>
                </a:solidFill>
                <a:latin typeface="Arial"/>
                <a:ea typeface="Arial"/>
                <a:cs typeface="Arial"/>
              </a:defRPr>
            </a:lvl3pPr>
            <a:lvl4pPr algn="ctr">
              <a:defRPr b="1">
                <a:solidFill>
                  <a:srgbClr val="14233B"/>
                </a:solidFill>
                <a:latin typeface="Arial"/>
                <a:ea typeface="Arial"/>
                <a:cs typeface="Arial"/>
              </a:defRPr>
            </a:lvl4pPr>
            <a:lvl5pPr algn="ctr">
              <a:defRPr b="1">
                <a:solidFill>
                  <a:srgbClr val="14233B"/>
                </a:solidFill>
                <a:latin typeface="Arial"/>
                <a:ea typeface="Arial"/>
                <a:cs typeface="Arial"/>
              </a:defRPr>
            </a:lvl5pPr>
            <a:lvl6pPr algn="ctr">
              <a:defRPr b="1">
                <a:solidFill>
                  <a:srgbClr val="14233B"/>
                </a:solidFill>
                <a:latin typeface="Arial"/>
                <a:ea typeface="Arial"/>
                <a:cs typeface="Arial"/>
              </a:defRPr>
            </a:lvl6pPr>
            <a:lvl7pPr algn="ctr">
              <a:defRPr b="1">
                <a:solidFill>
                  <a:srgbClr val="14233B"/>
                </a:solidFill>
                <a:latin typeface="Arial"/>
                <a:ea typeface="Arial"/>
                <a:cs typeface="Arial"/>
              </a:defRPr>
            </a:lvl7pPr>
            <a:lvl8pPr algn="ctr">
              <a:defRPr b="1">
                <a:solidFill>
                  <a:srgbClr val="14233B"/>
                </a:solidFill>
                <a:latin typeface="Arial"/>
                <a:ea typeface="Arial"/>
                <a:cs typeface="Arial"/>
              </a:defRPr>
            </a:lvl8pPr>
            <a:lvl9pPr algn="ctr">
              <a:defRPr b="1">
                <a:solidFill>
                  <a:srgbClr val="14233B"/>
                </a:solidFill>
                <a:latin typeface="Arial"/>
                <a:ea typeface="Arial"/>
                <a:cs typeface="Arial"/>
              </a:defRPr>
            </a:lvl9pPr>
          </a:lstStyle>
          <a:p xmlns:a="http://schemas.openxmlformats.org/drawingml/2006/main">
            <a:pPr algn="ctr">
              <a:defRPr b="1">
                <a:solidFill>
                  <a:srgbClr val="14233B"/>
                </a:solidFill>
                <a:latin typeface="Arial"/>
                <a:ea typeface="Arial"/>
                <a:cs typeface="Arial"/>
              </a:defRPr>
            </a:pPr>
            <a:r>
              <a:rPr b="1">
                <a:solidFill>
                  <a:srgbClr val="14233B"/>
                </a:solidFill>
                <a:latin typeface="Arial"/>
                <a:ea typeface="Arial"/>
                <a:cs typeface="Arial"/>
              </a:rPr>
              <a:t>Lợi nhuận sau thuế</a:t>
            </a:r>
          </a:p>
        </p:txBody>
      </p:sp>
      <p:sp>
        <p:nvSpPr>
          <p:cNvPr id="26" name="+31,2% so với T04">
            <a:extLst xmlns:a="http://schemas.openxmlformats.org/drawingml/2006/main">
              <a:ext uri="{FF2B5EF4-FFF2-40B4-BE49-F238E27FC236}">
                <a16:creationId xmlns:a16="http://schemas.microsoft.com/office/drawing/2014/main" id="{D38847B4-E306-420E-A164-0DF2C0E70330}"/>
              </a:ext>
            </a:extLst>
          </p:cNvPr>
          <p:cNvSpPr>
            <a:spLocks xmlns:a="http://schemas.openxmlformats.org/drawingml/2006/main" noGrp="1"/>
          </p:cNvSpPr>
          <p:nvPr/>
        </p:nvSpPr>
        <p:spPr>
          <a:xfrm xmlns:a="http://schemas.openxmlformats.org/drawingml/2006/main">
            <a:off x="9010650" y="4495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31935B"/>
                </a:solidFill>
                <a:latin typeface="Arial"/>
                <a:ea typeface="Arial"/>
                <a:cs typeface="Arial"/>
              </a:defRPr>
            </a:defPPr>
            <a:lvl1pPr algn="ctr">
              <a:defRPr b="1">
                <a:solidFill>
                  <a:srgbClr val="31935B"/>
                </a:solidFill>
                <a:latin typeface="Arial"/>
                <a:ea typeface="Arial"/>
                <a:cs typeface="Arial"/>
              </a:defRPr>
            </a:lvl1pPr>
            <a:lvl2pPr algn="ctr">
              <a:defRPr b="1">
                <a:solidFill>
                  <a:srgbClr val="31935B"/>
                </a:solidFill>
                <a:latin typeface="Arial"/>
                <a:ea typeface="Arial"/>
                <a:cs typeface="Arial"/>
              </a:defRPr>
            </a:lvl2pPr>
            <a:lvl3pPr algn="ctr">
              <a:defRPr b="1">
                <a:solidFill>
                  <a:srgbClr val="31935B"/>
                </a:solidFill>
                <a:latin typeface="Arial"/>
                <a:ea typeface="Arial"/>
                <a:cs typeface="Arial"/>
              </a:defRPr>
            </a:lvl3pPr>
            <a:lvl4pPr algn="ctr">
              <a:defRPr b="1">
                <a:solidFill>
                  <a:srgbClr val="31935B"/>
                </a:solidFill>
                <a:latin typeface="Arial"/>
                <a:ea typeface="Arial"/>
                <a:cs typeface="Arial"/>
              </a:defRPr>
            </a:lvl4pPr>
            <a:lvl5pPr algn="ctr">
              <a:defRPr b="1">
                <a:solidFill>
                  <a:srgbClr val="31935B"/>
                </a:solidFill>
                <a:latin typeface="Arial"/>
                <a:ea typeface="Arial"/>
                <a:cs typeface="Arial"/>
              </a:defRPr>
            </a:lvl5pPr>
            <a:lvl6pPr algn="ctr">
              <a:defRPr b="1">
                <a:solidFill>
                  <a:srgbClr val="31935B"/>
                </a:solidFill>
                <a:latin typeface="Arial"/>
                <a:ea typeface="Arial"/>
                <a:cs typeface="Arial"/>
              </a:defRPr>
            </a:lvl6pPr>
            <a:lvl7pPr algn="ctr">
              <a:defRPr b="1">
                <a:solidFill>
                  <a:srgbClr val="31935B"/>
                </a:solidFill>
                <a:latin typeface="Arial"/>
                <a:ea typeface="Arial"/>
                <a:cs typeface="Arial"/>
              </a:defRPr>
            </a:lvl7pPr>
            <a:lvl8pPr algn="ctr">
              <a:defRPr b="1">
                <a:solidFill>
                  <a:srgbClr val="31935B"/>
                </a:solidFill>
                <a:latin typeface="Arial"/>
                <a:ea typeface="Arial"/>
                <a:cs typeface="Arial"/>
              </a:defRPr>
            </a:lvl8pPr>
            <a:lvl9pPr algn="ctr">
              <a:defRPr b="1">
                <a:solidFill>
                  <a:srgbClr val="31935B"/>
                </a:solidFill>
                <a:latin typeface="Arial"/>
                <a:ea typeface="Arial"/>
                <a:cs typeface="Arial"/>
              </a:defRPr>
            </a:lvl9pPr>
          </a:lstStyle>
          <a:p xmlns:a="http://schemas.openxmlformats.org/drawingml/2006/main">
            <a:pPr algn="ctr">
              <a:defRPr b="1">
                <a:solidFill>
                  <a:srgbClr val="31935B"/>
                </a:solidFill>
                <a:latin typeface="Arial"/>
                <a:ea typeface="Arial"/>
                <a:cs typeface="Arial"/>
              </a:defRPr>
            </a:pPr>
            <a:r>
              <a:rPr b="1">
                <a:solidFill>
                  <a:srgbClr val="31935B"/>
                </a:solidFill>
                <a:latin typeface="Arial"/>
                <a:ea typeface="Arial"/>
                <a:cs typeface="Arial"/>
              </a:rPr>
              <a:t>+31,2% so với T04</a:t>
            </a:r>
          </a:p>
        </p:txBody>
      </p:sp>
      <p:sp>
        <p:nvSpPr>
          <p:cNvPr id="27" name="">
            <a:extLst xmlns:a="http://schemas.openxmlformats.org/drawingml/2006/main">
              <a:ext uri="{FF2B5EF4-FFF2-40B4-BE49-F238E27FC236}">
                <a16:creationId xmlns:a16="http://schemas.microsoft.com/office/drawing/2014/main" id="{59CCC459-BFC7-45E5-8E48-323198B4F42A}"/>
              </a:ext>
            </a:extLst>
          </p:cNvPr>
          <p:cNvSpPr>
            <a:spLocks xmlns:a="http://schemas.openxmlformats.org/drawingml/2006/main" noGrp="1"/>
          </p:cNvSpPr>
          <p:nvPr/>
        </p:nvSpPr>
        <p:spPr>
          <a:xfrm xmlns:a="http://schemas.openxmlformats.org/drawingml/2006/main">
            <a:off x="533400" y="5391150"/>
            <a:ext cx="11125200" cy="876300"/>
          </a:xfrm>
          <a:prstGeom xmlns:a="http://schemas.openxmlformats.org/drawingml/2006/main" prst="roundRect">
            <a:avLst>
              <a:gd name="adj" fmla="val 26087"/>
            </a:avLst>
          </a:prstGeom>
          <a:solidFill xmlns:a="http://schemas.openxmlformats.org/drawingml/2006/main">
            <a:srgbClr val="123A72"/>
          </a:solidFill>
          <a:ln xmlns:a="http://schemas.openxmlformats.org/drawingml/2006/main" w="0">
            <a:noFill/>
            <a:prstDash val="solid"/>
          </a:ln>
        </p:spPr>
      </p:sp>
      <p:sp>
        <p:nvSpPr>
          <p:cNvPr id="28" name="Biên lợi nhuận sau thuế: 23,">
            <a:extLst xmlns:a="http://schemas.openxmlformats.org/drawingml/2006/main">
              <a:ext uri="{FF2B5EF4-FFF2-40B4-BE49-F238E27FC236}">
                <a16:creationId xmlns:a16="http://schemas.microsoft.com/office/drawing/2014/main" id="{F88CCF1A-335A-4ADF-B1EA-81CB085590EF}"/>
              </a:ext>
            </a:extLst>
          </p:cNvPr>
          <p:cNvSpPr>
            <a:spLocks xmlns:a="http://schemas.openxmlformats.org/drawingml/2006/main" noGrp="1"/>
          </p:cNvSpPr>
          <p:nvPr/>
        </p:nvSpPr>
        <p:spPr>
          <a:xfrm xmlns:a="http://schemas.openxmlformats.org/drawingml/2006/main">
            <a:off x="800100" y="5581650"/>
            <a:ext cx="1059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b="1">
                <a:solidFill>
                  <a:srgbClr val="FFFFFF"/>
                </a:solidFill>
                <a:latin typeface="Arial"/>
                <a:ea typeface="Arial"/>
                <a:cs typeface="Arial"/>
              </a:defRPr>
            </a:defPPr>
            <a:lvl1pPr algn="ctr">
              <a:defRPr b="1">
                <a:solidFill>
                  <a:srgbClr val="FFFFFF"/>
                </a:solidFill>
                <a:latin typeface="Arial"/>
                <a:ea typeface="Arial"/>
                <a:cs typeface="Arial"/>
              </a:defRPr>
            </a:lvl1pPr>
            <a:lvl2pPr algn="ctr">
              <a:defRPr b="1">
                <a:solidFill>
                  <a:srgbClr val="FFFFFF"/>
                </a:solidFill>
                <a:latin typeface="Arial"/>
                <a:ea typeface="Arial"/>
                <a:cs typeface="Arial"/>
              </a:defRPr>
            </a:lvl2pPr>
            <a:lvl3pPr algn="ctr">
              <a:defRPr b="1">
                <a:solidFill>
                  <a:srgbClr val="FFFFFF"/>
                </a:solidFill>
                <a:latin typeface="Arial"/>
                <a:ea typeface="Arial"/>
                <a:cs typeface="Arial"/>
              </a:defRPr>
            </a:lvl3pPr>
            <a:lvl4pPr algn="ctr">
              <a:defRPr b="1">
                <a:solidFill>
                  <a:srgbClr val="FFFFFF"/>
                </a:solidFill>
                <a:latin typeface="Arial"/>
                <a:ea typeface="Arial"/>
                <a:cs typeface="Arial"/>
              </a:defRPr>
            </a:lvl4pPr>
            <a:lvl5pPr algn="ctr">
              <a:defRPr b="1">
                <a:solidFill>
                  <a:srgbClr val="FFFFFF"/>
                </a:solidFill>
                <a:latin typeface="Arial"/>
                <a:ea typeface="Arial"/>
                <a:cs typeface="Arial"/>
              </a:defRPr>
            </a:lvl5pPr>
            <a:lvl6pPr algn="ctr">
              <a:defRPr b="1">
                <a:solidFill>
                  <a:srgbClr val="FFFFFF"/>
                </a:solidFill>
                <a:latin typeface="Arial"/>
                <a:ea typeface="Arial"/>
                <a:cs typeface="Arial"/>
              </a:defRPr>
            </a:lvl6pPr>
            <a:lvl7pPr algn="ctr">
              <a:defRPr b="1">
                <a:solidFill>
                  <a:srgbClr val="FFFFFF"/>
                </a:solidFill>
                <a:latin typeface="Arial"/>
                <a:ea typeface="Arial"/>
                <a:cs typeface="Arial"/>
              </a:defRPr>
            </a:lvl7pPr>
            <a:lvl8pPr algn="ctr">
              <a:defRPr b="1">
                <a:solidFill>
                  <a:srgbClr val="FFFFFF"/>
                </a:solidFill>
                <a:latin typeface="Arial"/>
                <a:ea typeface="Arial"/>
                <a:cs typeface="Arial"/>
              </a:defRPr>
            </a:lvl8pPr>
            <a:lvl9pPr algn="ctr">
              <a:defRPr b="1">
                <a:solidFill>
                  <a:srgbClr val="FFFFFF"/>
                </a:solidFill>
                <a:latin typeface="Arial"/>
                <a:ea typeface="Arial"/>
                <a:cs typeface="Arial"/>
              </a:defRPr>
            </a:lvl9pPr>
          </a:lstStyle>
          <a:p xmlns:a="http://schemas.openxmlformats.org/drawingml/2006/main">
            <a:pPr algn="ctr">
              <a:defRPr b="1">
                <a:solidFill>
                  <a:srgbClr val="FFFFFF"/>
                </a:solidFill>
                <a:latin typeface="Arial"/>
                <a:ea typeface="Arial"/>
                <a:cs typeface="Arial"/>
              </a:defRPr>
            </a:pPr>
            <a:r>
              <a:rPr b="1">
                <a:solidFill>
                  <a:srgbClr val="FFFFFF"/>
                </a:solidFill>
                <a:latin typeface="Arial"/>
                <a:ea typeface="Arial"/>
                <a:cs typeface="Arial"/>
              </a:rPr>
              <a:t>Biên lợi nhuận sau thuế: 23,2% doanh thu thuần</a:t>
            </a:r>
          </a:p>
        </p:txBody>
      </p:sp>
    </p:spTree>
    <p:extLst>
      <p:ext uri="{BB962C8B-B14F-4D97-AF65-F5344CB8AC3E}">
        <p14:creationId xmlns:p14="http://schemas.microsoft.com/office/powerpoint/2010/main" val="1225033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2026-10-26T04:26:53.9800000Z</dcterms:created>
  <dcterms:modified xsi:type="dcterms:W3CDTF">2026-10-26T04:26:53.9800000Z</dcterms:modified>
</coreProperties>
</file>